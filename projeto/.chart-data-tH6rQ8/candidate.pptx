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ad59a9392c4ad0" /><Relationship Type="http://schemas.openxmlformats.org/officeDocument/2006/relationships/extended-properties" Target="/docProps/app.xml" Id="Rc8acd28435b74086" /><Relationship Type="http://schemas.openxmlformats.org/officeDocument/2006/relationships/officeDocument" Target="/ppt/presentation.xml" Id="R9b620554d36b4e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c96ab01ed74604"/>
  </p:sldMasterIdLst>
  <p:notesMasterIdLst>
    <p:notesMasterId xmlns:r="http://schemas.openxmlformats.org/officeDocument/2006/relationships" r:id="Ra9d395d1e1b748f0"/>
  </p:notesMasterIdLst>
  <p:sldIdLst>
    <p:sldId xmlns:r="http://schemas.openxmlformats.org/officeDocument/2006/relationships" id="256" r:id="Rc1e3d4e43d34448f"/>
    <p:sldId xmlns:r="http://schemas.openxmlformats.org/officeDocument/2006/relationships" id="257" r:id="Ra8f137eca9ab4e50"/>
    <p:sldId xmlns:r="http://schemas.openxmlformats.org/officeDocument/2006/relationships" id="258" r:id="R61ec536046774fde"/>
    <p:sldId xmlns:r="http://schemas.openxmlformats.org/officeDocument/2006/relationships" id="259" r:id="R6dbb550935c94da4"/>
    <p:sldId xmlns:r="http://schemas.openxmlformats.org/officeDocument/2006/relationships" id="260" r:id="R3a47512281104f2b"/>
    <p:sldId xmlns:r="http://schemas.openxmlformats.org/officeDocument/2006/relationships" id="261" r:id="R5e08861fe8e34917"/>
    <p:sldId xmlns:r="http://schemas.openxmlformats.org/officeDocument/2006/relationships" id="262" r:id="R347015f1352d4398"/>
    <p:sldId xmlns:r="http://schemas.openxmlformats.org/officeDocument/2006/relationships" id="263" r:id="Raef6a568e42a4c98"/>
    <p:sldId xmlns:r="http://schemas.openxmlformats.org/officeDocument/2006/relationships" id="264" r:id="R597bbbccfb8f43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5a0f6b3b5c4af6" /><Relationship Type="http://schemas.openxmlformats.org/officeDocument/2006/relationships/slideMaster" Target="/ppt/slideMasters/slideMaster1.xml" Id="R18c96ab01ed74604" /><Relationship Type="http://schemas.openxmlformats.org/officeDocument/2006/relationships/notesMaster" Target="/ppt/notesMasters/notesMaster1.xml" Id="Ra9d395d1e1b748f0" /><Relationship Type="http://schemas.openxmlformats.org/officeDocument/2006/relationships/presProps" Target="/ppt/presProps.xml" Id="R7abd7ad9b55244a6" /><Relationship Type="http://schemas.openxmlformats.org/officeDocument/2006/relationships/tableStyles" Target="/ppt/tableStyles.xml" Id="R3a280510501b46a8" /><Relationship Type="http://schemas.openxmlformats.org/officeDocument/2006/relationships/slide" Target="/ppt/slides/slide1.xml" Id="Rc1e3d4e43d34448f" /><Relationship Type="http://schemas.openxmlformats.org/officeDocument/2006/relationships/slide" Target="/ppt/slides/slide2.xml" Id="Ra8f137eca9ab4e50" /><Relationship Type="http://schemas.openxmlformats.org/officeDocument/2006/relationships/slide" Target="/ppt/slides/slide3.xml" Id="R61ec536046774fde" /><Relationship Type="http://schemas.openxmlformats.org/officeDocument/2006/relationships/slide" Target="/ppt/slides/slide4.xml" Id="R6dbb550935c94da4" /><Relationship Type="http://schemas.openxmlformats.org/officeDocument/2006/relationships/slide" Target="/ppt/slides/slide5.xml" Id="R3a47512281104f2b" /><Relationship Type="http://schemas.openxmlformats.org/officeDocument/2006/relationships/slide" Target="/ppt/slides/slide6.xml" Id="R5e08861fe8e34917" /><Relationship Type="http://schemas.openxmlformats.org/officeDocument/2006/relationships/slide" Target="/ppt/slides/slide7.xml" Id="R347015f1352d4398" /><Relationship Type="http://schemas.openxmlformats.org/officeDocument/2006/relationships/slide" Target="/ppt/slides/slide8.xml" Id="Raef6a568e42a4c98" /><Relationship Type="http://schemas.openxmlformats.org/officeDocument/2006/relationships/slide" Target="/ppt/slides/slide9.xml" Id="R597bbbccfb8f43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7f2b0b7d1048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d201778a4041f5" /><Relationship Type="http://schemas.openxmlformats.org/officeDocument/2006/relationships/notesMaster" Target="/ppt/notesMasters/notesMaster1.xml" Id="R5a45b415ffa446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b4617961044528" /><Relationship Type="http://schemas.openxmlformats.org/officeDocument/2006/relationships/notesMaster" Target="/ppt/notesMasters/notesMaster1.xml" Id="R46db321a297a44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ab4f77bfd6476d" /><Relationship Type="http://schemas.openxmlformats.org/officeDocument/2006/relationships/notesMaster" Target="/ppt/notesMasters/notesMaster1.xml" Id="R6d3d17efcbe947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eb5c33e5aa43ce" /><Relationship Type="http://schemas.openxmlformats.org/officeDocument/2006/relationships/notesMaster" Target="/ppt/notesMasters/notesMaster1.xml" Id="R011a2a39fec542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13353af27d40c3" /><Relationship Type="http://schemas.openxmlformats.org/officeDocument/2006/relationships/notesMaster" Target="/ppt/notesMasters/notesMaster1.xml" Id="R5c08f93613dc42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35147861fe458e" /><Relationship Type="http://schemas.openxmlformats.org/officeDocument/2006/relationships/notesMaster" Target="/ppt/notesMasters/notesMaster1.xml" Id="R09acb4feaeb44b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bea288afeb4241" /><Relationship Type="http://schemas.openxmlformats.org/officeDocument/2006/relationships/notesMaster" Target="/ppt/notesMasters/notesMaster1.xml" Id="R4ea04685c99742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e0464827a54d83" /><Relationship Type="http://schemas.openxmlformats.org/officeDocument/2006/relationships/notesMaster" Target="/ppt/notesMasters/notesMaster1.xml" Id="Rb0f09ba84c6246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49561366594f42" /><Relationship Type="http://schemas.openxmlformats.org/officeDocument/2006/relationships/notesMaster" Target="/ppt/notesMasters/notesMaster1.xml" Id="R4416447c317a4c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Olá. Nesta apresentação, vou explicar o projeto de qualidade de vinhos. A ideia é usar medidas físico-químicas e o tipo do vinho para estimar a nota que uma amostra receberia numa avaliação sensorial. Vou mostrar como os dados foram preparados, por que escolhemos a floresta aleatória, o que seus resultados significam e onde estão os limites da análise. O foco é aprender o processo de modelagem, e não criar uma ferramenta pronta para decisões comerciais.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1;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pergunta central é simples: qual nota sensorial podemos estimar para um vinho a partir das informações que já temos sobre ele? Cada amostra traz onze medidas físico-químicas, como álcool e acidez volátil, além do tipo, tinto ou branco. A resposta do modelo é uma nota numérica prevista. Por exemplo, ele pode devolver seis vírgula três. Por isso, tratamos o problema como regressão. A nota real só é conhecida depois da avaliação sensorial e ficou fora das entradas do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1; respostas_banca.md, itens 2 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dados vieram de dois arquivos públicos, um de vinhos tintos e outro de brancos. Juntos, eles tinham seis mil quatrocentas e noventa e sete linhas. Não havia valores ausentes ou não finitos. Antes de dividir a base, removemos mil cento e setenta e sete duplicatas completas. Restaram cinco mil trezentas e vinte amostras. Desse total, quatro mil duzentas e cinquenta e seis ficaram para desenvolvimento, e mil e sessenta e quatro foram reservadas para o teste final. Essa limpeza reduz o risco de uma cópia idêntica aparecer nos dois conjuntos, embora a falta de um identificador não permita afirmar que toda repetição era um erro.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1; resultados/resumo_metricas.json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comparar os modelos, usamos o erro absoluto médio, ou MAE. Ele informa quantos pontos de nota a previsão se afasta, em média, da nota real. Um MAE menor indica um resultado melhor. Começamos com uma referência simples: prever sempre a mediana do conjunto de desenvolvimento. Depois comparamos regressão linear, vizinhos mais próximos, árvore de decisão e floresta aleatória. Todos foram avaliados nas mesmas cinco dobras de validação cruzada. O preparo dos dados foi ajustado dentro de cada dobra, para evitar vazamento. O conjunto de teste permaneceu reservado até a escolha do modelo e do corte.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2; respostas_banca.md, itens 4 e 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gráfico mostra o MAE médio da validação cruzada. A floresta aleatória ficou em primeiro, com zero vírgula quinhentos e trinta e um ponto de nota. Em seguida vieram os quinze vizinhos mais próximos, a regressão linear, a árvore e a referência pela mediana. A floresta escolhida tinha trezentas e cinquenta árvores. Só depois dessa escolha usamos o teste reservado. Nele, o MAE da floresta foi zero vírgula quinhentos e vinte e nove, contra zero vírgula seiscentos e quarenta e três da referência. Isso representa uma redução de dezessete vírgula sete por cento no erro médio.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2; resultados/comparacao_validacao.csv; resultados/comparacao_teste.csv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Além da previsão numérica, o projeto simulou uma triagem de vinhos com nota real sete ou maior. No desenvolvimento, escolhemos um corte de seis vírgula zero para a nota prevista. No teste, a regra recuperou cento e sessenta e cinco dos duzentos e dois vinhos com nota sete ou mais. Essa é uma sensibilidade de oitenta e um vírgula sete por cento. Mas a precisão foi de quarenta e quatro vírgula sete por cento: menos da metade dos selecionados realmente tinha nota sete ou mais. Trinta e sete bons vinhos ficaram abaixo do corte e duzentos e quatro selecionados não eram sete mais. Por isso, a regra serve para discutir compromissos entre erros, não para decidir qualidade comercial.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3; resultados/resumo_metricas.json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erro médio não é igual em todos os casos. As previsões tendem a se aproximar do centro da distribuição e ficam piores nas notas extremas. Para nota três, o MAE foi dois vírgula trinta e sete. Para nota nove, três vírgula trinta e sete. Esses números, porém, vêm de apenas seis e uma amostra no teste, respectivamente, então são pouco estáveis. Também observamos um MAE de zero vírgula quatrocentos e cinquenta e três em tintos e zero vírgula quinhentos e cinquenta e quatro em brancos. Essa diferença merece nova validação. Ela, sozinha, não permite concluir que exista discriminação.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p. 4; resultados/erros_por_nota.csv; resultados/desempenho_tipo.csv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entender de quais informações o modelo mais depende, embaralhamos cada variável e observamos quanto o erro aumentava. O maior aumento apareceu para o teor de álcool: zero vírgula cento e trinta e sete ponto de nota. Depois vieram a acidez volátil e o dióxido de enxofre livre. Isso mostra associação preditiva, mas não prova que alterar a composição química de um vinho causará mudança na avaliação. Também testamos se as onze medidas identificam o tipo do vinho. A AUC foi zero vírgula novecentos e noventa e seis. Portanto, mesmo retirando a coluna de tipo, muito dessa informação permanece nas outras medidas.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pp. 4–5; resultados/importancia_permutacao.csv; resultados/resumo_metricas.json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concluir, a floresta aleatória fez previsões melhores que a referência simples. O erro médio no teste ficou em cerca de meio ponto de nota. Ao mesmo tempo, o R quadrado de zero vírgula trezentos e noventa e seis mostra que boa parte da variação entre amostras ainda não foi explicada. O melhor uso deste trabalho é didático: compreender a preparação, a validação, a escolha do modelo e a análise dos erros. Ele não deve aprovar lotes, definir preços, certificar segurança sanitária nem orientar mudanças químicas. A base não informa safra, produtor ou armazenamento. Antes de usar o modelo em outras regiões, períodos ou laboratórios, precisaríamos de validação externa. Obrigado.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Fonte: relatorio_qualidade_vinhos.pdf, pp. 2 e 5; respostas_banca.md, itens 1 e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7c74f580848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829c968d694937" /><Relationship Type="http://schemas.openxmlformats.org/officeDocument/2006/relationships/slideLayout" Target="/ppt/slideLayouts/slideLayout1.xml" Id="R4cb8f94d363f45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b8f94d363f45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9e25998814351" /><Relationship Type="http://schemas.openxmlformats.org/officeDocument/2006/relationships/notesSlide" Target="/ppt/notesSlides/notesSlide1.xml" Id="Rf7d1c56a9b1b4b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aa7ac952c14174" /><Relationship Type="http://schemas.openxmlformats.org/officeDocument/2006/relationships/notesSlide" Target="/ppt/notesSlides/notesSlide2.xml" Id="R95f19488a0aa4c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addd84c314c59" /><Relationship Type="http://schemas.openxmlformats.org/officeDocument/2006/relationships/notesSlide" Target="/ppt/notesSlides/notesSlide3.xml" Id="R8b89e9e802084b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71917f7874942" /><Relationship Type="http://schemas.openxmlformats.org/officeDocument/2006/relationships/notesSlide" Target="/ppt/notesSlides/notesSlide4.xml" Id="R8142ce5775114e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a1dbe34154b74" /><Relationship Type="http://schemas.openxmlformats.org/officeDocument/2006/relationships/chart" Target="/ppt/slides/charts/chart1.xml" Id="R10ae97c8e95747fb" /><Relationship Type="http://schemas.openxmlformats.org/officeDocument/2006/relationships/notesSlide" Target="/ppt/notesSlides/notesSlide5.xml" Id="Rcae831989c4e44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e6c30fded4b8f" /><Relationship Type="http://schemas.openxmlformats.org/officeDocument/2006/relationships/notesSlide" Target="/ppt/notesSlides/notesSlide6.xml" Id="Racefc3e1293f47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87258ac864f4c" /><Relationship Type="http://schemas.openxmlformats.org/officeDocument/2006/relationships/chart" Target="/ppt/slides/charts/chart2.xml" Id="R34015a1296f44e94" /><Relationship Type="http://schemas.openxmlformats.org/officeDocument/2006/relationships/notesSlide" Target="/ppt/notesSlides/notesSlide7.xml" Id="Rbf6caae10dfa40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cddd328854a99" /><Relationship Type="http://schemas.openxmlformats.org/officeDocument/2006/relationships/chart" Target="/ppt/slides/charts/chart3.xml" Id="R8eb0daae74f94245" /><Relationship Type="http://schemas.openxmlformats.org/officeDocument/2006/relationships/notesSlide" Target="/ppt/notesSlides/notesSlide8.xml" Id="R403c97b2e0df4f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3578b619404762" /><Relationship Type="http://schemas.openxmlformats.org/officeDocument/2006/relationships/notesSlide" Target="/ppt/notesSlides/notesSlide9.xml" Id="R13b33d929d29463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7A3550"/>
            </a:solidFill>
          </c:spPr>
          <c:cat>
            <c:strRef>
              <c:f>'Chart Data'!$A$2:$A$6</c:f>
              <c:strCache>
                <c:ptCount val="5"/>
                <c:pt idx="0">
                  <c:v>Floresta aleatória</c:v>
                </c:pt>
                <c:pt idx="1">
                  <c:v>k-NN</c:v>
                </c:pt>
                <c:pt idx="2">
                  <c:v>Regressão linear</c:v>
                </c:pt>
                <c:pt idx="3">
                  <c:v>Árvore</c:v>
                </c:pt>
                <c:pt idx="4">
                  <c:v>Referência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0.531</c:v>
                </c:pt>
                <c:pt idx="1">
                  <c:v>0.55</c:v>
                </c:pt>
                <c:pt idx="2">
                  <c:v>0.565</c:v>
                </c:pt>
                <c:pt idx="3">
                  <c:v>0.582</c:v>
                </c:pt>
                <c:pt idx="4">
                  <c:v>0.643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7263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BDA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7A3550"/>
            </a:solidFill>
          </c:spPr>
          <c:cat>
            <c:strRef>
              <c:f>'Chart Data'!$A$2:$A$8</c:f>
              <c:strCache>
                <c:ptCount val="7"/>
                <c:pt idx="0">
                  <c:v>3 (n=6)</c:v>
                </c:pt>
                <c:pt idx="1">
                  <c:v>4 (n=41)</c:v>
                </c:pt>
                <c:pt idx="2">
                  <c:v>5 (n=350)</c:v>
                </c:pt>
                <c:pt idx="3">
                  <c:v>6 (n=465)</c:v>
                </c:pt>
                <c:pt idx="4">
                  <c:v>7 (n=171)</c:v>
                </c:pt>
                <c:pt idx="5">
                  <c:v>8 (n=30)</c:v>
                </c:pt>
                <c:pt idx="6">
                  <c:v>9 (n=1)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2.369</c:v>
                </c:pt>
                <c:pt idx="1">
                  <c:v>1.211</c:v>
                </c:pt>
                <c:pt idx="2">
                  <c:v>0.437</c:v>
                </c:pt>
                <c:pt idx="3">
                  <c:v>0.401</c:v>
                </c:pt>
                <c:pt idx="4">
                  <c:v>0.647</c:v>
                </c:pt>
                <c:pt idx="5">
                  <c:v>1.521</c:v>
                </c:pt>
                <c:pt idx="6">
                  <c:v>3.371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7263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BDA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Valor</c:v>
          </c:tx>
          <c:spPr>
            <a:solidFill xmlns:a="http://schemas.openxmlformats.org/drawingml/2006/main">
              <a:srgbClr val="7A3550"/>
            </a:solidFill>
          </c:spPr>
          <c:cat>
            <c:strRef>
              <c:f>'Chart Data'!$A$2:$A$6</c:f>
              <c:strCache>
                <c:ptCount val="5"/>
                <c:pt idx="0">
                  <c:v>Álcool</c:v>
                </c:pt>
                <c:pt idx="1">
                  <c:v>Acidez volátil</c:v>
                </c:pt>
                <c:pt idx="2">
                  <c:v>SO₂ livre</c:v>
                </c:pt>
                <c:pt idx="3">
                  <c:v>Sulfatos</c:v>
                </c:pt>
                <c:pt idx="4">
                  <c:v>SO₂ total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0.137</c:v>
                </c:pt>
                <c:pt idx="1">
                  <c:v>0.057</c:v>
                </c:pt>
                <c:pt idx="2">
                  <c:v>0.038</c:v>
                </c:pt>
                <c:pt idx="3">
                  <c:v>0.021</c:v>
                </c:pt>
                <c:pt idx="4">
                  <c:v>0.015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272631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DBDA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5B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8950D-4198-412F-A062-B5B5AFEB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Qualidade de vinhos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A6FA7-F6BE-4494-BD02-BCA31AE5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00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DDBAC7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DDBAC7"/>
                </a:solidFill>
                <a:latin typeface="Arial"/>
                <a:ea typeface="Arial"/>
                <a:cs typeface="Arial"/>
              </a:rPr>
              <a:t>Como o aprendizado de máquina estima uma nota sensorial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CD512-2152-4003-B742-16DCBC58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Apresentação explicativa do projeto</a:t>
            </a:r>
          </a:p>
        </p:txBody>
      </p:sp>
    </p:spTree>
    <p:extLst>
      <p:ext uri="{BB962C8B-B14F-4D97-AF65-F5344CB8AC3E}">
        <p14:creationId xmlns:p14="http://schemas.microsoft.com/office/powerpoint/2010/main" val="12650990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95616-6BA2-454D-AE96-1DB59E4B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A pergunta do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3386F-908E-4319-9CA8-707A874E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AC155-EEDD-4925-A78A-3FF01AE1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Entradas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2B589-7FBD-4966-847C-23D3CF15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5143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72631"/>
                </a:solidFill>
                <a:latin typeface="Arial"/>
                <a:ea typeface="Arial"/>
                <a:cs typeface="Arial"/>
              </a:rPr>
              <a:t>11 medidas físico-químicas</a:t>
            </a:r>
          </a:p>
          <a:p xmlns:a="http://schemas.openxmlformats.org/drawingml/2006/main">
            <a:pPr>
              <a:defRPr sz="2550" b="1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72631"/>
                </a:solidFill>
                <a:latin typeface="Arial"/>
                <a:ea typeface="Arial"/>
                <a:cs typeface="Arial"/>
              </a:rPr>
              <a:t>+ tipo de vinho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F2F5F-69D8-4A23-9CE0-CE0108DC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240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1EECA-0795-49AE-857F-78E87452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05025"/>
            <a:ext cx="4572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Nota sensorial</a:t>
            </a:r>
          </a:p>
          <a:p xmlns:a="http://schemas.openxmlformats.org/drawingml/2006/main">
            <a:pPr>
              <a:defRPr sz="277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estimada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1B328F-C52E-4FB9-A198-1D7E5659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576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7A355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7A3550"/>
                </a:solidFill>
                <a:latin typeface="Arial"/>
                <a:ea typeface="Arial"/>
                <a:cs typeface="Arial"/>
              </a:rPr>
              <a:t>Exemplo: 6,3 pontos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76F22-FA6D-470C-BCFB-D1F5EC27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Como a saída é um número, esta é uma tarefa de regressão.</a:t>
            </a:r>
          </a:p>
        </p:txBody>
      </p:sp>
    </p:spTree>
    <p:extLst>
      <p:ext uri="{BB962C8B-B14F-4D97-AF65-F5344CB8AC3E}">
        <p14:creationId xmlns:p14="http://schemas.microsoft.com/office/powerpoint/2010/main" val="14193145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159F2-5E0F-4D6F-8259-B8F5A4C0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Dados e preparação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101DF-9BDA-4FDB-93D1-3973FFF7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3745A-2D6C-411F-882E-8FC149FF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619250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6.497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76128-DD73-485C-A0E2-1171C6B5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38400"/>
            <a:ext cx="323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amostras nos dois arquivos originais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4B784-D5F8-4728-B451-E7E1450C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1.177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25AD7-CEE4-4F3F-A1E1-462CEE5B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384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duplicatas completas removidas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88527-90CC-486D-8FE0-04F63CE2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5.320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8F206-0D51-4A67-BD9E-90B2D9A8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38400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amostras após a limpeza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D964D-66EF-4A16-B6AF-1A0E3A9C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38625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4.256 para desenvolvimento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6027A-AE84-43CB-B86C-1715145E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386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1.064 reservadas para teste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85700-4B56-49FD-9AC4-E8D34E7A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A remoção de duplicatas evita cópias idênticas em treino e teste. Sem identificador, não sabemos se toda repetição era um erro.</a:t>
            </a:r>
          </a:p>
        </p:txBody>
      </p:sp>
    </p:spTree>
    <p:extLst>
      <p:ext uri="{BB962C8B-B14F-4D97-AF65-F5344CB8AC3E}">
        <p14:creationId xmlns:p14="http://schemas.microsoft.com/office/powerpoint/2010/main" val="17989444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EF54E-C551-4082-8654-D2BADCF6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Como os modelos foram avaliados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C5F3C-0E67-4399-8223-EF8F594B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7B729-30E0-4519-B021-2BB5A5F6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4381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Métrica principal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D54E2-E609-4196-A846-195C748A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000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7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EAA3C-73C5-47EA-A045-FD3AE318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38500"/>
            <a:ext cx="4381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Erro absoluto médio, em pontos de nota. Menor é melhor.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F6707F-EAB3-4C0F-A075-34A85034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33525"/>
            <a:ext cx="4762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Escolha do modelo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71B01-8EF7-4CB6-8200-9A312E0F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62175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5 dobras de validação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D6C2D-3E77-4F9A-8A00-1C870ACC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86125"/>
            <a:ext cx="50292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Todos os candidatos passaram pelas mesmas dobras. O teste reservado entrou apenas depois da escolha.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19B1B-00A1-49DF-B299-F38E502A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Referência simples: prever sempre a mediana do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1666286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7206D-12EE-4739-96DA-C8510676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A floresta teve o menor erro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38115-4A99-4D1C-B78C-0A968628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1174E-F5BB-444C-937E-2ACFC315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MAE médio nas cinco dobras de validação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62037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ae97c8e95747f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22E815-81A0-4B6D-8BA5-B746602E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7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No teste final: MAE 0,529 versus 0,643 da referência, uma redução de 17,7%.</a:t>
            </a:r>
          </a:p>
        </p:txBody>
      </p:sp>
    </p:spTree>
    <p:extLst>
      <p:ext uri="{BB962C8B-B14F-4D97-AF65-F5344CB8AC3E}">
        <p14:creationId xmlns:p14="http://schemas.microsoft.com/office/powerpoint/2010/main" val="947064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43D3E-131C-4C92-BBF5-7CFF5A7F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Uma triagem apenas para estudo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D5392-6A0E-494B-ADD3-85A6940C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16CCF-264C-4D87-9C29-653B7A0E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716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Corte da nota prevista: 6,0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E8053-FA28-422D-87B4-AC65D5FC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504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81,7%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1D48D-F9A0-4C66-A078-7BF44557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sensibilidade: 165 de 202 casos 7+ encontrados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BF18F-EB71-4CA3-BA41-72322C82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44,7%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44B76-6E3B-492D-9D8C-22D26B8F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precisão: cerca de 45 em 100 selecionados são 7+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75492-14A2-4381-AEAF-09D1B016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9585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72631"/>
                </a:solidFill>
                <a:latin typeface="Arial"/>
                <a:ea typeface="Arial"/>
                <a:cs typeface="Arial"/>
              </a:rPr>
              <a:t>37 casos 7+ ficaram abaixo do corte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65CB5-1793-4027-BB82-954C4CDC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895850"/>
            <a:ext cx="48482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72631"/>
                </a:solidFill>
                <a:latin typeface="Arial"/>
                <a:ea typeface="Arial"/>
                <a:cs typeface="Arial"/>
              </a:rPr>
              <a:t>204 selecionados não eram 7+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D8273-A32A-4FEA-B780-F491FE35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721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O corte foi definido no desenvolvimento. Não é uma regra de decisão comercial.</a:t>
            </a:r>
          </a:p>
        </p:txBody>
      </p:sp>
    </p:spTree>
    <p:extLst>
      <p:ext uri="{BB962C8B-B14F-4D97-AF65-F5344CB8AC3E}">
        <p14:creationId xmlns:p14="http://schemas.microsoft.com/office/powerpoint/2010/main" val="2101166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92226-FAC9-4A13-9A5B-F14B2A0E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Os erros aumentam nas notas extremas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9B8F9-2C75-4047-A5E5-6EAE8FE0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C1048-0BF1-4AAD-BC74-50E1F1A7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MAE no teste por nota real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7429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015a1296f44e9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084A6-A4CF-4706-A78D-5CD232E7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762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45D63"/>
                </a:solidFill>
                <a:latin typeface="Arial"/>
                <a:ea typeface="Arial"/>
                <a:cs typeface="Arial"/>
              </a:rPr>
              <a:t>Por tipo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C361B-2B6A-4F14-88A7-65A4097F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Tinto: 0,453</a:t>
            </a:r>
          </a:p>
          <a:p xmlns:a="http://schemas.openxmlformats.org/drawingml/2006/main">
            <a:pPr>
              <a:defRPr sz="22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Branco: 0,554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4A1BD-728C-4CE7-AE3D-F854D6E4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324350"/>
            <a:ext cx="2838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263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631"/>
                </a:solidFill>
                <a:latin typeface="Arial"/>
                <a:ea typeface="Arial"/>
                <a:cs typeface="Arial"/>
              </a:rPr>
              <a:t>Notas 3 e 9 têm apenas 6 e 1 casos no teste.</a:t>
            </a:r>
          </a:p>
        </p:txBody>
      </p:sp>
    </p:spTree>
    <p:extLst>
      <p:ext uri="{BB962C8B-B14F-4D97-AF65-F5344CB8AC3E}">
        <p14:creationId xmlns:p14="http://schemas.microsoft.com/office/powerpoint/2010/main" val="513408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8E647-74FA-4E66-B561-A075351E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Quais medidas mais influenciam a previsão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B7A34-0405-4030-9680-3F4EAF52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7057A-7810-43FA-9C07-C632F426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Aumento do MAE quando cada variável é embaralhada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866775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b0daae74f9424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C123C-2189-4EF5-9B7A-025E83FA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62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23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B233B"/>
                </a:solidFill>
                <a:latin typeface="Arial"/>
                <a:ea typeface="Arial"/>
                <a:cs typeface="Arial"/>
              </a:rPr>
              <a:t>Associação preditiva não prova causa.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1938D-E43F-4F97-93FA-1A7FEEEF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245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5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5D63"/>
                </a:solidFill>
                <a:latin typeface="Arial"/>
                <a:ea typeface="Arial"/>
                <a:cs typeface="Arial"/>
              </a:rPr>
              <a:t>As medidas químicas também quase identificam o tipo do vinho: AUC 0,996.</a:t>
            </a:r>
          </a:p>
        </p:txBody>
      </p:sp>
    </p:spTree>
    <p:extLst>
      <p:ext uri="{BB962C8B-B14F-4D97-AF65-F5344CB8AC3E}">
        <p14:creationId xmlns:p14="http://schemas.microsoft.com/office/powerpoint/2010/main" val="1968908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5B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2E5DA-EF42-4245-96D0-7A3E8F7F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podemos concluir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76EB8-6E18-421A-A966-4670AECB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57925"/>
            <a:ext cx="62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DBA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DBAC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08051-9361-479B-B47E-93045B26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33525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DBAC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DBAC7"/>
                </a:solidFill>
                <a:latin typeface="Arial"/>
                <a:ea typeface="Arial"/>
                <a:cs typeface="Arial"/>
              </a:rPr>
              <a:t>O modelo melhora a referência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DA05B-9455-40FD-A466-98A67059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14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 0,529 no teste e R² 0,396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9025F-4620-401B-95B7-D0AE2FDB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Ainda há muita variação individual sem explicação.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6B369-100B-402B-90CE-7095AF6C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67175"/>
            <a:ext cx="428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DBAC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DBAC7"/>
                </a:solidFill>
                <a:latin typeface="Arial"/>
                <a:ea typeface="Arial"/>
                <a:cs typeface="Arial"/>
              </a:rPr>
              <a:t>Uso adequado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FB569-93BF-465B-9857-EE453E2E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57725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Aprender e demonstrar o fluxo de modelagem.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86EC4-DD47-401E-976A-BF4FD634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435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 aplicar em novos contextos, seriam necessários dados e validação externa.</a:t>
            </a:r>
          </a:p>
        </p:txBody>
      </p:sp>
    </p:spTree>
    <p:extLst>
      <p:ext uri="{BB962C8B-B14F-4D97-AF65-F5344CB8AC3E}">
        <p14:creationId xmlns:p14="http://schemas.microsoft.com/office/powerpoint/2010/main" val="348916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2026-10-01T19:14:16.3070000Z</dcterms:created>
  <dcterms:modified xsi:type="dcterms:W3CDTF">2026-10-01T19:14:16.3070000Z</dcterms:modified>
</coreProperties>
</file>