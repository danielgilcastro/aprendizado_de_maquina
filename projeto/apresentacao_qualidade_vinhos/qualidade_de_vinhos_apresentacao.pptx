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aa9d3c6e14343" /><Relationship Type="http://schemas.openxmlformats.org/officeDocument/2006/relationships/extended-properties" Target="/docProps/app.xml" Id="R9b7d02542ae94670" /><Relationship Type="http://schemas.openxmlformats.org/officeDocument/2006/relationships/officeDocument" Target="/ppt/presentation.xml" Id="R5e93c685d1ed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d2e199641545b5"/>
  </p:sldMasterIdLst>
  <p:notesMasterIdLst>
    <p:notesMasterId xmlns:r="http://schemas.openxmlformats.org/officeDocument/2006/relationships" r:id="R0d9c25b1e71d4850"/>
  </p:notesMasterIdLst>
  <p:sldIdLst>
    <p:sldId xmlns:r="http://schemas.openxmlformats.org/officeDocument/2006/relationships" id="256" r:id="Rb3fd06e4ac724114"/>
    <p:sldId xmlns:r="http://schemas.openxmlformats.org/officeDocument/2006/relationships" id="257" r:id="R8c3ea787039f4c08"/>
    <p:sldId xmlns:r="http://schemas.openxmlformats.org/officeDocument/2006/relationships" id="258" r:id="Rc51c0e9a83744334"/>
    <p:sldId xmlns:r="http://schemas.openxmlformats.org/officeDocument/2006/relationships" id="259" r:id="Rd527615f9d5a4604"/>
    <p:sldId xmlns:r="http://schemas.openxmlformats.org/officeDocument/2006/relationships" id="260" r:id="R2d8f28c9cccc4ab1"/>
    <p:sldId xmlns:r="http://schemas.openxmlformats.org/officeDocument/2006/relationships" id="261" r:id="R38da3759b36a4b7f"/>
    <p:sldId xmlns:r="http://schemas.openxmlformats.org/officeDocument/2006/relationships" id="262" r:id="R3f0cc9ed44a34d7a"/>
    <p:sldId xmlns:r="http://schemas.openxmlformats.org/officeDocument/2006/relationships" id="263" r:id="Rafda4abd3145441b"/>
    <p:sldId xmlns:r="http://schemas.openxmlformats.org/officeDocument/2006/relationships" id="264" r:id="R9cc2cfb6a5bd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4cc7137fef4b48" /><Relationship Type="http://schemas.openxmlformats.org/officeDocument/2006/relationships/slideMaster" Target="/ppt/slideMasters/slideMaster1.xml" Id="Rb1d2e199641545b5" /><Relationship Type="http://schemas.openxmlformats.org/officeDocument/2006/relationships/notesMaster" Target="/ppt/notesMasters/notesMaster1.xml" Id="R0d9c25b1e71d4850" /><Relationship Type="http://schemas.openxmlformats.org/officeDocument/2006/relationships/presProps" Target="/ppt/presProps.xml" Id="Rc69cf27ff45d400f" /><Relationship Type="http://schemas.openxmlformats.org/officeDocument/2006/relationships/tableStyles" Target="/ppt/tableStyles.xml" Id="Re99a1eb3554b46d2" /><Relationship Type="http://schemas.openxmlformats.org/officeDocument/2006/relationships/slide" Target="/ppt/slides/slide1.xml" Id="Rb3fd06e4ac724114" /><Relationship Type="http://schemas.openxmlformats.org/officeDocument/2006/relationships/slide" Target="/ppt/slides/slide2.xml" Id="R8c3ea787039f4c08" /><Relationship Type="http://schemas.openxmlformats.org/officeDocument/2006/relationships/slide" Target="/ppt/slides/slide3.xml" Id="Rc51c0e9a83744334" /><Relationship Type="http://schemas.openxmlformats.org/officeDocument/2006/relationships/slide" Target="/ppt/slides/slide4.xml" Id="Rd527615f9d5a4604" /><Relationship Type="http://schemas.openxmlformats.org/officeDocument/2006/relationships/slide" Target="/ppt/slides/slide5.xml" Id="R2d8f28c9cccc4ab1" /><Relationship Type="http://schemas.openxmlformats.org/officeDocument/2006/relationships/slide" Target="/ppt/slides/slide6.xml" Id="R38da3759b36a4b7f" /><Relationship Type="http://schemas.openxmlformats.org/officeDocument/2006/relationships/slide" Target="/ppt/slides/slide7.xml" Id="R3f0cc9ed44a34d7a" /><Relationship Type="http://schemas.openxmlformats.org/officeDocument/2006/relationships/slide" Target="/ppt/slides/slide8.xml" Id="Rafda4abd3145441b" /><Relationship Type="http://schemas.openxmlformats.org/officeDocument/2006/relationships/slide" Target="/ppt/slides/slide9.xml" Id="R9cc2cfb6a5bd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4140749275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a1be15d6f4d1b" /><Relationship Type="http://schemas.openxmlformats.org/officeDocument/2006/relationships/notesMaster" Target="/ppt/notesMasters/notesMaster1.xml" Id="R1cd1d8451be3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005dc3abf4902" /><Relationship Type="http://schemas.openxmlformats.org/officeDocument/2006/relationships/notesMaster" Target="/ppt/notesMasters/notesMaster1.xml" Id="R20d3993f6e18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543a47d28a418b" /><Relationship Type="http://schemas.openxmlformats.org/officeDocument/2006/relationships/notesMaster" Target="/ppt/notesMasters/notesMaster1.xml" Id="Ra4126eaaf2e442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d45c979966491e" /><Relationship Type="http://schemas.openxmlformats.org/officeDocument/2006/relationships/notesMaster" Target="/ppt/notesMasters/notesMaster1.xml" Id="R927c39717085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b0450775746dd" /><Relationship Type="http://schemas.openxmlformats.org/officeDocument/2006/relationships/notesMaster" Target="/ppt/notesMasters/notesMaster1.xml" Id="R6ead791f5e99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9d2cc06484c1b" /><Relationship Type="http://schemas.openxmlformats.org/officeDocument/2006/relationships/notesMaster" Target="/ppt/notesMasters/notesMaster1.xml" Id="R0179cee9206c46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a4bc4fe56b4225" /><Relationship Type="http://schemas.openxmlformats.org/officeDocument/2006/relationships/notesMaster" Target="/ppt/notesMasters/notesMaster1.xml" Id="R18c76bcd1f90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ccd56d06824aa6" /><Relationship Type="http://schemas.openxmlformats.org/officeDocument/2006/relationships/notesMaster" Target="/ppt/notesMasters/notesMaster1.xml" Id="R2db45acf63e843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252f6fc38a4482" /><Relationship Type="http://schemas.openxmlformats.org/officeDocument/2006/relationships/notesMaster" Target="/ppt/notesMasters/notesMaster1.xml" Id="Ra9faadeeca4c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Olá. Nesta apresentação, vou explicar o projeto de qualidade de vinhos. A ideia é usar medidas físico-químicas e o tipo do vinho para estimar a nota que uma amostra receberia numa avaliação sensorial. Vou mostrar como os dados foram preparados, por que escolhemos a floresta aleatória, o que seus resultados significam e onde estão os limites da análise. O foco é aprender o processo de modelagem, e não criar uma ferramenta pronta para decisões comerciais.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central é simples: qual nota sensorial podemos estimar para um vinho a partir das informações que já temos sobre ele? Cada amostra traz onze medidas físico-químicas, como álcool e acidez volátil, além do tipo, tinto ou branco. A resposta do modelo é uma nota numérica prevista. Por exemplo, ele pode devolver seis vírgula três. Por isso, tratamos o problema como regressão. A nota real só é conhecida depois da avaliação sensorial e ficou fora das entradas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respostas_banca.md, itens 2 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dados vieram de dois arquivos públicos, um de vinhos tintos e outro de brancos. Juntos, eles tinham seis mil quatrocentas e noventa e sete linhas. Não havia valores ausentes ou não finitos. Antes de dividir a base, removemos mil cento e setenta e sete duplicatas completas. Restaram cinco mil trezentas e vinte amostras. Desse total, quatro mil duzentas e cinquenta e seis ficaram para desenvolvimento, e mil e sessenta e quatro foram reservadas para o teste final. Essa limpeza reduz o risco de uma cópia idêntica aparecer nos dois conjuntos, embora a falta de um identificador não permita afirmar que toda repetição era um erro.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comparar os modelos, usamos o erro absoluto médio, ou MAE. Ele informa quantos pontos de nota a previsão se afasta, em média, da nota real. Um MAE menor indica um resultado melhor. Começamos com uma referência simples: prever sempre a mediana do conjunto de desenvolvimento. Depois comparamos regressão linear, vizinhos mais próximos, árvore de decisão e floresta aleatória. Todos foram avaliados nas mesmas cinco dobras de validação cruzada. O preparo dos dados foi ajustado dentro de cada dobra, para evitar vazamento. O conjunto de teste permaneceu reservado até a escolha do modelo e do 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2; respostas_banca.md, itens 4 e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gráfico mostra o MAE médio da validação cruzada. A floresta aleatória ficou em primeiro, com zero vírgula quinhentos e trinta e um ponto de nota. Em seguida vieram os quinze vizinhos mais próximos, a regressão linear, a árvore e a referência pela mediana. A floresta escolhida tinha trezentas e cinquenta árvores. Só depois dessa escolha usamos o teste reservado. Nele, o MAE da floresta foi zero vírgula quinhentos e vinte e nove, contra zero vírgula seiscentos e quarenta e três da referência. Isso representa uma redução de dezessete vírgula sete por cento no erro médio.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2; resultados/comparacao_validacao.csv; resultados/comparacao_teste.csv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Além da previsão numérica, o projeto simulou uma triagem de vinhos com nota real sete ou maior. No desenvolvimento, escolhemos um corte de seis vírgula zero para a nota prevista. No teste, a regra recuperou cento e sessenta e cinco dos duzentos e dois vinhos com nota sete ou mais. Essa é uma sensibilidade de oitenta e um vírgula sete por cento. Mas a precisão foi de quarenta e quatro vírgula sete por cento: menos da metade dos selecionados realmente tinha nota sete ou mais. Trinta e sete bons vinhos ficaram abaixo do corte e duzentos e quatro selecionados não eram sete mais. Por isso, a regra serve para discutir compromissos entre erros, não para decidir qualidade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3;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erro médio não é igual em todos os casos. As previsões tendem a se aproximar do centro da distribuição e ficam piores nas notas extremas. Para nota três, o MAE foi dois vírgula trinta e sete. Para nota nove, três vírgula trinta e sete. Esses números, porém, vêm de apenas seis e uma amostra no teste, respectivamente, então são pouco estáveis. Também observamos um MAE de zero vírgula quatrocentos e cinquenta e três em tintos e zero vírgula quinhentos e cinquenta e quatro em brancos. Essa diferença merece nova validação. Ela, sozinha, não permite concluir que exista discriminação.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4; resultados/erros_por_nota.csv; resultados/desempenho_tipo.csv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entender de quais informações o modelo mais depende, embaralhamos cada variável e observamos quanto o erro aumentava. O maior aumento apareceu para o teor de álcool: zero vírgula cento e trinta e sete ponto de nota. Depois vieram a acidez volátil e o dióxido de enxofre livre. Isso mostra associação preditiva, mas não prova que alterar a composição química de um vinho causará mudança na avaliação. Também testamos se as onze medidas identificam o tipo do vinho. A AUC foi zero vírgula novecentos e noventa e seis. Portanto, mesmo retirando a coluna de tipo, muito dessa informação permanece nas outras medidas.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pp. 4–5; resultados/importancia_permutacao.csv;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concluir, a floresta aleatória fez previsões melhores que a referência simples. O erro médio no teste ficou em cerca de meio ponto de nota. Ao mesmo tempo, o R quadrado de zero vírgula trezentos e noventa e seis mostra que boa parte da variação entre amostras ainda não foi explicada. O melhor uso deste trabalho é didático: compreender a preparação, a validação, a escolha do modelo e a análise dos erros. Ele não deve aprovar lotes, definir preços, certificar segurança sanitária nem orientar mudanças químicas. A base não informa safra, produtor ou armazenamento. Antes de usar o modelo em outras regiões, períodos ou laboratórios, precisaríamos de validação externa. Obrigado.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pp. 2 e 5; respostas_banca.md, itens 1 e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f034f04be4f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fa5a71434467c" /><Relationship Type="http://schemas.openxmlformats.org/officeDocument/2006/relationships/slideLayout" Target="/ppt/slideLayouts/slideLayout1.xml" Id="R71f9a8d2a62c4a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9a8d2a62c4a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cc6ad8a2447a" /><Relationship Type="http://schemas.openxmlformats.org/officeDocument/2006/relationships/notesSlide" Target="/ppt/notesSlides/notesSlide1.xml" Id="Rd330d6d7faea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41c7029442d2" /><Relationship Type="http://schemas.openxmlformats.org/officeDocument/2006/relationships/notesSlide" Target="/ppt/notesSlides/notesSlide2.xml" Id="R1930d8edc241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161391f1347e9" /><Relationship Type="http://schemas.openxmlformats.org/officeDocument/2006/relationships/notesSlide" Target="/ppt/notesSlides/notesSlide3.xml" Id="Rbd7f68a6a4d9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833b897e44ab" /><Relationship Type="http://schemas.openxmlformats.org/officeDocument/2006/relationships/notesSlide" Target="/ppt/notesSlides/notesSlide4.xml" Id="Re77b82d9035948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2b98b1244a70" /><Relationship Type="http://schemas.openxmlformats.org/officeDocument/2006/relationships/chart" Target="/ppt/slides/charts/chart1.xml" Id="Rbe2fb8c3d3fa4b80" /><Relationship Type="http://schemas.openxmlformats.org/officeDocument/2006/relationships/notesSlide" Target="/ppt/notesSlides/notesSlide5.xml" Id="Ra915ff4124c948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21cb0b46a4993" /><Relationship Type="http://schemas.openxmlformats.org/officeDocument/2006/relationships/notesSlide" Target="/ppt/notesSlides/notesSlide6.xml" Id="Rf75326b6a0414b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69bdfb78f444d" /><Relationship Type="http://schemas.openxmlformats.org/officeDocument/2006/relationships/chart" Target="/ppt/slides/charts/chart2.xml" Id="R748cf5d2b00f4818" /><Relationship Type="http://schemas.openxmlformats.org/officeDocument/2006/relationships/notesSlide" Target="/ppt/notesSlides/notesSlide7.xml" Id="R053722d9874540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39173cc08433b" /><Relationship Type="http://schemas.openxmlformats.org/officeDocument/2006/relationships/chart" Target="/ppt/slides/charts/chart3.xml" Id="Rd6687ad05bfc4756" /><Relationship Type="http://schemas.openxmlformats.org/officeDocument/2006/relationships/notesSlide" Target="/ppt/notesSlides/notesSlide8.xml" Id="R5f2fd7023e8b4a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059274e7d4b6a" /><Relationship Type="http://schemas.openxmlformats.org/officeDocument/2006/relationships/notesSlide" Target="/ppt/notesSlides/notesSlide9.xml" Id="R0988ea4a726b4ff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Ref>
              <c:f>'Chart Data'!$A$2:$A$6</c:f>
              <c:strCache>
                <c:ptCount val="5"/>
                <c:pt idx="0">
                  <c:v>Floresta aleatória</c:v>
                </c:pt>
                <c:pt idx="1">
                  <c:v>k-NN</c:v>
                </c:pt>
                <c:pt idx="2">
                  <c:v>Regressão linear</c:v>
                </c:pt>
                <c:pt idx="3">
                  <c:v>Árvore</c:v>
                </c:pt>
                <c:pt idx="4">
                  <c:v>Referência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0.531</c:v>
                </c:pt>
                <c:pt idx="1">
                  <c:v>0.55</c:v>
                </c:pt>
                <c:pt idx="2">
                  <c:v>0.565</c:v>
                </c:pt>
                <c:pt idx="3">
                  <c:v>0.582</c:v>
                </c:pt>
                <c:pt idx="4">
                  <c:v>0.643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Ref>
              <c:f>'Chart Data'!$A$2:$A$8</c:f>
              <c:strCache>
                <c:ptCount val="7"/>
                <c:pt idx="0">
                  <c:v>3 (n=6)</c:v>
                </c:pt>
                <c:pt idx="1">
                  <c:v>4 (n=41)</c:v>
                </c:pt>
                <c:pt idx="2">
                  <c:v>5 (n=350)</c:v>
                </c:pt>
                <c:pt idx="3">
                  <c:v>6 (n=465)</c:v>
                </c:pt>
                <c:pt idx="4">
                  <c:v>7 (n=171)</c:v>
                </c:pt>
                <c:pt idx="5">
                  <c:v>8 (n=30)</c:v>
                </c:pt>
                <c:pt idx="6">
                  <c:v>9 (n=1)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2.369</c:v>
                </c:pt>
                <c:pt idx="1">
                  <c:v>1.211</c:v>
                </c:pt>
                <c:pt idx="2">
                  <c:v>0.437</c:v>
                </c:pt>
                <c:pt idx="3">
                  <c:v>0.401</c:v>
                </c:pt>
                <c:pt idx="4">
                  <c:v>0.647</c:v>
                </c:pt>
                <c:pt idx="5">
                  <c:v>1.521</c:v>
                </c:pt>
                <c:pt idx="6">
                  <c:v>3.371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Ref>
              <c:f>'Chart Data'!$A$2:$A$6</c:f>
              <c:strCache>
                <c:ptCount val="5"/>
                <c:pt idx="0">
                  <c:v>Álcool</c:v>
                </c:pt>
                <c:pt idx="1">
                  <c:v>Acidez volátil</c:v>
                </c:pt>
                <c:pt idx="2">
                  <c:v>SO₂ livre</c:v>
                </c:pt>
                <c:pt idx="3">
                  <c:v>Sulfatos</c:v>
                </c:pt>
                <c:pt idx="4">
                  <c:v>SO₂ total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0.137</c:v>
                </c:pt>
                <c:pt idx="1">
                  <c:v>0.057</c:v>
                </c:pt>
                <c:pt idx="2">
                  <c:v>0.038</c:v>
                </c:pt>
                <c:pt idx="3">
                  <c:v>0.021</c:v>
                </c:pt>
                <c:pt idx="4">
                  <c:v>0.015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B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8D582-4E7C-40ED-9B5E-5B4A44C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Qualidade de vinhos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E07E5-0402-4618-B10D-DA405F8F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DBAC7"/>
                </a:solidFill>
                <a:latin typeface="Arial"/>
                <a:ea typeface="Arial"/>
                <a:cs typeface="Arial"/>
              </a:rPr>
              <a:t>Como o aprendizado de máquina estima uma nota sensorial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82218-2B45-44D9-A322-A5B5F14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Apresentação explicativa do projeto</a:t>
            </a:r>
          </a:p>
        </p:txBody>
      </p:sp>
    </p:spTree>
    <p:extLst>
      <p:ext uri="{BB962C8B-B14F-4D97-AF65-F5344CB8AC3E}">
        <p14:creationId xmlns:p14="http://schemas.microsoft.com/office/powerpoint/2010/main" val="48561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B6DFB-66BF-48DE-ADD4-63F7CA7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 pergunta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FD7B2-25E1-426A-8ED2-55B5A63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70155-D35C-4A69-92FA-D198017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Entradas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375CA-3675-492E-8ADD-9FFB065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11 medidas físico-químicas</a:t>
            </a:r>
          </a:p>
          <a:p xmlns:a="http://schemas.openxmlformats.org/drawingml/2006/main">
            <a:pPr>
              <a:defRPr sz="2550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+ tipo de vinho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B52C2-EBBB-49DD-830C-74881E8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11827-E224-4413-BE84-C1A0DC8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05025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Nota sensorial</a:t>
            </a:r>
          </a:p>
          <a:p xmlns:a="http://schemas.openxmlformats.org/drawingml/2006/main">
            <a:pPr>
              <a:defRPr sz="27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estimada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20AC3-D126-44DE-8570-0F86016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A35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A3550"/>
                </a:solidFill>
                <a:latin typeface="Arial"/>
                <a:ea typeface="Arial"/>
                <a:cs typeface="Arial"/>
              </a:rPr>
              <a:t>Exemplo: 6,3 pontos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B938F-7D5A-4423-9897-26DEF709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Como a saída é um número, esta é uma tarefa de regressão.</a:t>
            </a:r>
          </a:p>
        </p:txBody>
      </p:sp>
    </p:spTree>
    <p:extLst>
      <p:ext uri="{BB962C8B-B14F-4D97-AF65-F5344CB8AC3E}">
        <p14:creationId xmlns:p14="http://schemas.microsoft.com/office/powerpoint/2010/main" val="508367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B971E-1CD4-4496-AC58-6087B33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Dados e preparação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81EC5-87B3-4167-B4C8-43E3C18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50D14-6BA9-42DF-B880-2D80F62E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192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6.497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38C0-F629-4EB3-B071-2DEDE878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amostras nos dois arquivos originais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F94-D66B-4715-9C01-FC4E05A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1.177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4A19D-DBD0-4B29-9825-6EF2261B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duplicatas completas removidas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A7302-FEC3-45E1-84B5-CA537C8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5.320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447AA-4EA9-43D7-9E72-5CAD15A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amostras após a limpeza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93187-0C57-42EC-BBCB-BDDF6960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4.256 para desenvolvimento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9C120-C407-45B0-97F8-466F300D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1.064 reservadas para 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FE4B-9A84-481F-A833-A55A9D5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 remoção de duplicatas evita cópias idênticas em treino e teste. Sem identificador, não sabemos se toda repetição era um erro.</a:t>
            </a:r>
          </a:p>
        </p:txBody>
      </p:sp>
    </p:spTree>
    <p:extLst>
      <p:ext uri="{BB962C8B-B14F-4D97-AF65-F5344CB8AC3E}">
        <p14:creationId xmlns:p14="http://schemas.microsoft.com/office/powerpoint/2010/main" val="1829597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5FED5-549A-48F1-B8E0-75B2491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Como os modelos foram avaliados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BAFC0-4CFF-43F1-A3C3-230B240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0C239-4C33-4341-A9CA-C4F8DB21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Métrica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1DA2-0AE3-4DE9-922F-9EF9C9B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3B99A-BEB4-497C-A8A1-16BCFD8E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4381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Erro absoluto médio, em pontos de nota. Menor é melhor.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3D69-0DD1-4185-8818-E561EF5A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3352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Escolha do modelo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29347-2B29-4D9B-B37F-3DE1DD8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6217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5 dobras de validação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A8D38-E34C-401C-AB64-AC5DB535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50292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Todos os candidatos passaram pelas mesmas dobras. O teste reservado entrou apenas depois da escolha.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F8C3A-88D1-4CB5-AD63-09E1141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Referência simples: prever sempre a mediana do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045529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6D173-74C2-4B20-8088-EA99F62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 floresta teve o menor erro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8C7A-3FB1-4D17-A11D-3EF7ED1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C0A67-D8BD-4B3B-BBEB-6639C7D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MAE médio nas cinco dobras de validação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6203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2fb8c3d3fa4b8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AB2EE-2401-4BAA-AC14-49465510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No teste final: MAE 0,529 versus 0,643 da referência, uma redução de 17,7%.</a:t>
            </a:r>
          </a:p>
        </p:txBody>
      </p:sp>
    </p:spTree>
    <p:extLst>
      <p:ext uri="{BB962C8B-B14F-4D97-AF65-F5344CB8AC3E}">
        <p14:creationId xmlns:p14="http://schemas.microsoft.com/office/powerpoint/2010/main" val="1530314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5C963-D9DA-4326-871C-6A22CBF3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Uma triagem apenas para estudo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E4EE-1967-4A00-B1EF-09FFA97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4758B-7F2F-464F-9E8A-B06590AB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Corte da nota prevista: 6,0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C3745-0D50-42F1-ACD9-8785813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81,7%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E5434-26C1-4C83-8AE2-61FF220F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sensibilidade: 165 de 202 casos 7+ encontrados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F7843-859F-4843-81B8-21D1CB13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44,7%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0964-413B-4BE6-A9CB-1342F668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precisão: cerca de 45 em 100 selecionados são 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1633-61FD-45CB-97DD-52428BBC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958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37 casos 7+ ficaram abaixo do corte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73DED-89CD-4882-BBE6-95F134E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95850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204 selecionados não eram 7+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A1AD1-BBEC-4FFF-A247-D46E22AD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72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O corte foi definido no desenvolvimento. Não é uma regra de decisão comercial.</a:t>
            </a:r>
          </a:p>
        </p:txBody>
      </p:sp>
    </p:spTree>
    <p:extLst>
      <p:ext uri="{BB962C8B-B14F-4D97-AF65-F5344CB8AC3E}">
        <p14:creationId xmlns:p14="http://schemas.microsoft.com/office/powerpoint/2010/main" val="820336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92EF7-8F46-4BFB-AA66-9EA66E8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Os erros aumentam nas notas extremas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89B1-D207-4739-AF8E-56FD491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D09E1-522F-4F6D-8012-23B90E78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MAE no teste por nota real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8cf5d2b00f48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95F45-E2CF-414A-A37A-E8E197B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76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Por 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84E6D-9046-4CAD-8E9D-D032F1F9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Tinto: 0,453</a:t>
            </a:r>
          </a:p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Branco: 0,554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8BFC4-6AF9-4F19-86BC-6DE459CE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838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Notas 3 e 9 têm apenas 6 e 1 casos no teste.</a:t>
            </a:r>
          </a:p>
        </p:txBody>
      </p:sp>
    </p:spTree>
    <p:extLst>
      <p:ext uri="{BB962C8B-B14F-4D97-AF65-F5344CB8AC3E}">
        <p14:creationId xmlns:p14="http://schemas.microsoft.com/office/powerpoint/2010/main" val="527629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67C55-6BBE-4E21-A174-BE3C757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Quais medidas mais influenciam a previsão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EBD75-2AA7-4A33-A0F3-DC8551C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550C-0516-4300-9980-DF0FBCA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Aumento do MAE quando cada variável é embaralhada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86677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687ad05bfc47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61A15-92AF-49A4-B60E-95A6483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Associação preditiva não prova causa.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128E1-FA40-4108-97A9-C1B704B5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24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As medidas químicas também quase identificam o tipo do vinho: AUC 0,996.</a:t>
            </a:r>
          </a:p>
        </p:txBody>
      </p:sp>
    </p:spTree>
    <p:extLst>
      <p:ext uri="{BB962C8B-B14F-4D97-AF65-F5344CB8AC3E}">
        <p14:creationId xmlns:p14="http://schemas.microsoft.com/office/powerpoint/2010/main" val="2002130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5B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F7A14-083F-48B0-B4D4-ABEF6AE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podemos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327F-8BA4-40FC-8DA5-2EB20AB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BA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281F2-E9E4-4DB5-AA96-C57ECA0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3352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DBAC7"/>
                </a:solidFill>
                <a:latin typeface="Arial"/>
                <a:ea typeface="Arial"/>
                <a:cs typeface="Arial"/>
              </a:rPr>
              <a:t>O modelo melhora a referência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E9E23-27D7-4D27-AE6E-6482680F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0,529 no teste e R² 0,396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06B2-8786-4C28-838A-806C3FC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Ainda há muita variação individual sem explicação.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76CAB-1560-4EC7-B7E1-392F62A1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67175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BAC7"/>
                </a:solidFill>
                <a:latin typeface="Arial"/>
                <a:ea typeface="Arial"/>
                <a:cs typeface="Arial"/>
              </a:rPr>
              <a:t>Uso adequado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39DD8-B8B3-48D3-8CF4-75F8BA3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57725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Aprender e demonstrar o fluxo de modelagem.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C38A4-95CE-4DFE-8554-D1B7365F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43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aplicar em novos contextos, seriam necessários dados e validação externa.</a:t>
            </a:r>
          </a:p>
        </p:txBody>
      </p:sp>
    </p:spTree>
    <p:extLst>
      <p:ext uri="{BB962C8B-B14F-4D97-AF65-F5344CB8AC3E}">
        <p14:creationId xmlns:p14="http://schemas.microsoft.com/office/powerpoint/2010/main" val="1680515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2026-10-01T19:14:29.1030000Z</dcterms:created>
  <dcterms:modified xsi:type="dcterms:W3CDTF">2026-10-01T19:14:29.1030000Z</dcterms:modified>
</coreProperties>
</file>