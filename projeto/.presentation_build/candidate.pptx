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2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3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30aa9d3c6e14343" /><Relationship Type="http://schemas.openxmlformats.org/officeDocument/2006/relationships/extended-properties" Target="/docProps/app.xml" Id="R9b7d02542ae94670" /><Relationship Type="http://schemas.openxmlformats.org/officeDocument/2006/relationships/officeDocument" Target="/ppt/presentation.xml" Id="R5e93c685d1ed4ae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1d2e199641545b5"/>
  </p:sldMasterIdLst>
  <p:notesMasterIdLst>
    <p:notesMasterId xmlns:r="http://schemas.openxmlformats.org/officeDocument/2006/relationships" r:id="R0d9c25b1e71d4850"/>
  </p:notesMasterIdLst>
  <p:sldIdLst>
    <p:sldId xmlns:r="http://schemas.openxmlformats.org/officeDocument/2006/relationships" id="256" r:id="Rb3fd06e4ac724114"/>
    <p:sldId xmlns:r="http://schemas.openxmlformats.org/officeDocument/2006/relationships" id="257" r:id="R8c3ea787039f4c08"/>
    <p:sldId xmlns:r="http://schemas.openxmlformats.org/officeDocument/2006/relationships" id="258" r:id="Rc51c0e9a83744334"/>
    <p:sldId xmlns:r="http://schemas.openxmlformats.org/officeDocument/2006/relationships" id="259" r:id="Rd527615f9d5a4604"/>
    <p:sldId xmlns:r="http://schemas.openxmlformats.org/officeDocument/2006/relationships" id="260" r:id="R2d8f28c9cccc4ab1"/>
    <p:sldId xmlns:r="http://schemas.openxmlformats.org/officeDocument/2006/relationships" id="261" r:id="R38da3759b36a4b7f"/>
    <p:sldId xmlns:r="http://schemas.openxmlformats.org/officeDocument/2006/relationships" id="262" r:id="R3f0cc9ed44a34d7a"/>
    <p:sldId xmlns:r="http://schemas.openxmlformats.org/officeDocument/2006/relationships" id="263" r:id="Rafda4abd3145441b"/>
    <p:sldId xmlns:r="http://schemas.openxmlformats.org/officeDocument/2006/relationships" id="264" r:id="R9cc2cfb6a5bd428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a4cc7137fef4b48" /><Relationship Type="http://schemas.openxmlformats.org/officeDocument/2006/relationships/slideMaster" Target="/ppt/slideMasters/slideMaster1.xml" Id="Rb1d2e199641545b5" /><Relationship Type="http://schemas.openxmlformats.org/officeDocument/2006/relationships/notesMaster" Target="/ppt/notesMasters/notesMaster1.xml" Id="R0d9c25b1e71d4850" /><Relationship Type="http://schemas.openxmlformats.org/officeDocument/2006/relationships/presProps" Target="/ppt/presProps.xml" Id="Rc69cf27ff45d400f" /><Relationship Type="http://schemas.openxmlformats.org/officeDocument/2006/relationships/tableStyles" Target="/ppt/tableStyles.xml" Id="Re99a1eb3554b46d2" /><Relationship Type="http://schemas.openxmlformats.org/officeDocument/2006/relationships/slide" Target="/ppt/slides/slide1.xml" Id="Rb3fd06e4ac724114" /><Relationship Type="http://schemas.openxmlformats.org/officeDocument/2006/relationships/slide" Target="/ppt/slides/slide2.xml" Id="R8c3ea787039f4c08" /><Relationship Type="http://schemas.openxmlformats.org/officeDocument/2006/relationships/slide" Target="/ppt/slides/slide3.xml" Id="Rc51c0e9a83744334" /><Relationship Type="http://schemas.openxmlformats.org/officeDocument/2006/relationships/slide" Target="/ppt/slides/slide4.xml" Id="Rd527615f9d5a4604" /><Relationship Type="http://schemas.openxmlformats.org/officeDocument/2006/relationships/slide" Target="/ppt/slides/slide5.xml" Id="R2d8f28c9cccc4ab1" /><Relationship Type="http://schemas.openxmlformats.org/officeDocument/2006/relationships/slide" Target="/ppt/slides/slide6.xml" Id="R38da3759b36a4b7f" /><Relationship Type="http://schemas.openxmlformats.org/officeDocument/2006/relationships/slide" Target="/ppt/slides/slide7.xml" Id="R3f0cc9ed44a34d7a" /><Relationship Type="http://schemas.openxmlformats.org/officeDocument/2006/relationships/slide" Target="/ppt/slides/slide8.xml" Id="Rafda4abd3145441b" /><Relationship Type="http://schemas.openxmlformats.org/officeDocument/2006/relationships/slide" Target="/ppt/slides/slide9.xml" Id="R9cc2cfb6a5bd428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841407492754e3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fea1be15d6f4d1b" /><Relationship Type="http://schemas.openxmlformats.org/officeDocument/2006/relationships/notesMaster" Target="/ppt/notesMasters/notesMaster1.xml" Id="R1cd1d8451be348f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a4005dc3abf4902" /><Relationship Type="http://schemas.openxmlformats.org/officeDocument/2006/relationships/notesMaster" Target="/ppt/notesMasters/notesMaster1.xml" Id="R20d3993f6e1840e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6543a47d28a418b" /><Relationship Type="http://schemas.openxmlformats.org/officeDocument/2006/relationships/notesMaster" Target="/ppt/notesMasters/notesMaster1.xml" Id="Ra4126eaaf2e442f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0d45c979966491e" /><Relationship Type="http://schemas.openxmlformats.org/officeDocument/2006/relationships/notesMaster" Target="/ppt/notesMasters/notesMaster1.xml" Id="R927c3971708542e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52b0450775746dd" /><Relationship Type="http://schemas.openxmlformats.org/officeDocument/2006/relationships/notesMaster" Target="/ppt/notesMasters/notesMaster1.xml" Id="R6ead791f5e994e3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c39d2cc06484c1b" /><Relationship Type="http://schemas.openxmlformats.org/officeDocument/2006/relationships/notesMaster" Target="/ppt/notesMasters/notesMaster1.xml" Id="R0179cee9206c463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2a4bc4fe56b4225" /><Relationship Type="http://schemas.openxmlformats.org/officeDocument/2006/relationships/notesMaster" Target="/ppt/notesMasters/notesMaster1.xml" Id="R18c76bcd1f904c5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bccd56d06824aa6" /><Relationship Type="http://schemas.openxmlformats.org/officeDocument/2006/relationships/notesMaster" Target="/ppt/notesMasters/notesMaster1.xml" Id="R2db45acf63e8438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f252f6fc38a4482" /><Relationship Type="http://schemas.openxmlformats.org/officeDocument/2006/relationships/notesMaster" Target="/ppt/notesMasters/notesMaster1.xml" Id="Ra9faadeeca4c48a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Olá. Nesta apresentação, vou explicar o projeto de qualidade de vinhos. A ideia é usar medidas físico-químicas e o tipo do vinho para estimar a nota que uma amostra receberia numa avaliação sensorial. Vou mostrar como os dados foram preparados, por que escolhemos a floresta aleatória, o que seus resultados significam e onde estão os limites da análise. O foco é aprender o processo de modelagem, e não criar uma ferramenta pronta para decisões comerciais.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relatorio_qualidade_vinhos.pdf, p. 1; 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pergunta central é simples: qual nota sensorial podemos estimar para um vinho a partir das informações que já temos sobre ele? Cada amostra traz onze medidas físico-químicas, como álcool e acidez volátil, além do tipo, tinto ou branco. A resposta do modelo é uma nota numérica prevista. Por exemplo, ele pode devolver seis vírgula três. Por isso, tratamos o problema como regressão. A nota real só é conhecida depois da avaliação sensorial e ficou fora das entradas do modelo.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relatorio_qualidade_vinhos.pdf, p. 1; respostas_banca.md, itens 2 e 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Os dados vieram de dois arquivos públicos, um de vinhos tintos e outro de brancos. Juntos, eles tinham seis mil quatrocentas e noventa e sete linhas. Não havia valores ausentes ou não finitos. Antes de dividir a base, removemos mil cento e setenta e sete duplicatas completas. Restaram cinco mil trezentas e vinte amostras. Desse total, quatro mil duzentas e cinquenta e seis ficaram para desenvolvimento, e mil e sessenta e quatro foram reservadas para o teste final. Essa limpeza reduz o risco de uma cópia idêntica aparecer nos dois conjuntos, embora a falta de um identificador não permita afirmar que toda repetição era um erro.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relatorio_qualidade_vinhos.pdf, p. 1; resultados/resumo_metricas.json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Para comparar os modelos, usamos o erro absoluto médio, ou MAE. Ele informa quantos pontos de nota a previsão se afasta, em média, da nota real. Um MAE menor indica um resultado melhor. Começamos com uma referência simples: prever sempre a mediana do conjunto de desenvolvimento. Depois comparamos regressão linear, vizinhos mais próximos, árvore de decisão e floresta aleatória. Todos foram avaliados nas mesmas cinco dobras de validação cruzada. O preparo dos dados foi ajustado dentro de cada dobra, para evitar vazamento. O conjunto de teste permaneceu reservado até a escolha do modelo e do corte.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relatorio_qualidade_vinhos.pdf, p. 2; respostas_banca.md, itens 4 e 13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Este gráfico mostra o MAE médio da validação cruzada. A floresta aleatória ficou em primeiro, com zero vírgula quinhentos e trinta e um ponto de nota. Em seguida vieram os quinze vizinhos mais próximos, a regressão linear, a árvore e a referência pela mediana. A floresta escolhida tinha trezentas e cinquenta árvores. Só depois dessa escolha usamos o teste reservado. Nele, o MAE da floresta foi zero vírgula quinhentos e vinte e nove, contra zero vírgula seiscentos e quarenta e três da referência. Isso representa uma redução de dezessete vírgula sete por cento no erro médio.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relatorio_qualidade_vinhos.pdf, p. 2; resultados/comparacao_validacao.csv; resultados/comparacao_teste.csv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Além da previsão numérica, o projeto simulou uma triagem de vinhos com nota real sete ou maior. No desenvolvimento, escolhemos um corte de seis vírgula zero para a nota prevista. No teste, a regra recuperou cento e sessenta e cinco dos duzentos e dois vinhos com nota sete ou mais. Essa é uma sensibilidade de oitenta e um vírgula sete por cento. Mas a precisão foi de quarenta e quatro vírgula sete por cento: menos da metade dos selecionados realmente tinha nota sete ou mais. Trinta e sete bons vinhos ficaram abaixo do corte e duzentos e quatro selecionados não eram sete mais. Por isso, a regra serve para discutir compromissos entre erros, não para decidir qualidade comercial.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relatorio_qualidade_vinhos.pdf, p. 3; resultados/resumo_metricas.json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erro médio não é igual em todos os casos. As previsões tendem a se aproximar do centro da distribuição e ficam piores nas notas extremas. Para nota três, o MAE foi dois vírgula trinta e sete. Para nota nove, três vírgula trinta e sete. Esses números, porém, vêm de apenas seis e uma amostra no teste, respectivamente, então são pouco estáveis. Também observamos um MAE de zero vírgula quatrocentos e cinquenta e três em tintos e zero vírgula quinhentos e cinquenta e quatro em brancos. Essa diferença merece nova validação. Ela, sozinha, não permite concluir que exista discriminação.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relatorio_qualidade_vinhos.pdf, p. 4; resultados/erros_por_nota.csv; resultados/desempenho_tipo.csv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Para entender de quais informações o modelo mais depende, embaralhamos cada variável e observamos quanto o erro aumentava. O maior aumento apareceu para o teor de álcool: zero vírgula cento e trinta e sete ponto de nota. Depois vieram a acidez volátil e o dióxido de enxofre livre. Isso mostra associação preditiva, mas não prova que alterar a composição química de um vinho causará mudança na avaliação. Também testamos se as onze medidas identificam o tipo do vinho. A AUC foi zero vírgula novecentos e noventa e seis. Portanto, mesmo retirando a coluna de tipo, muito dessa informação permanece nas outras medidas.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relatorio_qualidade_vinhos.pdf, pp. 4–5; resultados/importancia_permutacao.csv; resultados/resumo_metricas.json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Para concluir, a floresta aleatória fez previsões melhores que a referência simples. O erro médio no teste ficou em cerca de meio ponto de nota. Ao mesmo tempo, o R quadrado de zero vírgula trezentos e noventa e seis mostra que boa parte da variação entre amostras ainda não foi explicada. O melhor uso deste trabalho é didático: compreender a preparação, a validação, a escolha do modelo e a análise dos erros. Ele não deve aprovar lotes, definir preços, certificar segurança sanitária nem orientar mudanças químicas. A base não informa safra, produtor ou armazenamento. Antes de usar o modelo em outras regiões, períodos ou laboratórios, precisaríamos de validação externa. Obrigado.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relatorio_qualidade_vinhos.pdf, pp. 2 e 5; respostas_banca.md, itens 1 e 12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ef034f04be4f5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78fa5a71434467c" /><Relationship Type="http://schemas.openxmlformats.org/officeDocument/2006/relationships/slideLayout" Target="/ppt/slideLayouts/slideLayout1.xml" Id="R71f9a8d2a62c4ad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1f9a8d2a62c4ad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7ecc6ad8a2447a" /><Relationship Type="http://schemas.openxmlformats.org/officeDocument/2006/relationships/notesSlide" Target="/ppt/notesSlides/notesSlide1.xml" Id="Rd330d6d7faea478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9241c7029442d2" /><Relationship Type="http://schemas.openxmlformats.org/officeDocument/2006/relationships/notesSlide" Target="/ppt/notesSlides/notesSlide2.xml" Id="R1930d8edc241469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4161391f1347e9" /><Relationship Type="http://schemas.openxmlformats.org/officeDocument/2006/relationships/notesSlide" Target="/ppt/notesSlides/notesSlide3.xml" Id="Rbd7f68a6a4d94ad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e0833b897e44ab" /><Relationship Type="http://schemas.openxmlformats.org/officeDocument/2006/relationships/notesSlide" Target="/ppt/notesSlides/notesSlide4.xml" Id="Re77b82d90359482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e12b98b1244a70" /><Relationship Type="http://schemas.openxmlformats.org/officeDocument/2006/relationships/chart" Target="/ppt/slides/charts/chart1.xml" Id="Rbe2fb8c3d3fa4b80" /><Relationship Type="http://schemas.openxmlformats.org/officeDocument/2006/relationships/notesSlide" Target="/ppt/notesSlides/notesSlide5.xml" Id="Ra915ff4124c9485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a21cb0b46a4993" /><Relationship Type="http://schemas.openxmlformats.org/officeDocument/2006/relationships/notesSlide" Target="/ppt/notesSlides/notesSlide6.xml" Id="Rf75326b6a0414bd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f69bdfb78f444d" /><Relationship Type="http://schemas.openxmlformats.org/officeDocument/2006/relationships/chart" Target="/ppt/slides/charts/chart2.xml" Id="R748cf5d2b00f4818" /><Relationship Type="http://schemas.openxmlformats.org/officeDocument/2006/relationships/notesSlide" Target="/ppt/notesSlides/notesSlide7.xml" Id="R053722d9874540b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b39173cc08433b" /><Relationship Type="http://schemas.openxmlformats.org/officeDocument/2006/relationships/chart" Target="/ppt/slides/charts/chart3.xml" Id="Rd6687ad05bfc4756" /><Relationship Type="http://schemas.openxmlformats.org/officeDocument/2006/relationships/notesSlide" Target="/ppt/notesSlides/notesSlide8.xml" Id="R5f2fd7023e8b4af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3059274e7d4b6a" /><Relationship Type="http://schemas.openxmlformats.org/officeDocument/2006/relationships/notesSlide" Target="/ppt/notesSlides/notesSlide9.xml" Id="R0988ea4a726b4ff4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Valor</c:v>
          </c:tx>
          <c:spPr>
            <a:solidFill xmlns:a="http://schemas.openxmlformats.org/drawingml/2006/main">
              <a:srgbClr val="7A3550"/>
            </a:solidFill>
          </c:spPr>
          <c:cat>
            <c:strLit>
              <c:ptCount val="5"/>
              <c:pt idx="0">
                <c:v>Floresta aleatória</c:v>
              </c:pt>
              <c:pt idx="1">
                <c:v>k-NN</c:v>
              </c:pt>
              <c:pt idx="2">
                <c:v>Regressão linear</c:v>
              </c:pt>
              <c:pt idx="3">
                <c:v>Árvore</c:v>
              </c:pt>
              <c:pt idx="4">
                <c:v>Referência</c:v>
              </c:pt>
            </c:strLit>
          </c:cat>
          <c:val>
            <c:numLit>
              <c:formatCode>General</c:formatCode>
              <c:ptCount val="5"/>
              <c:pt idx="0">
                <c:v>0.531</c:v>
              </c:pt>
              <c:pt idx="1">
                <c:v>0.55</c:v>
              </c:pt>
              <c:pt idx="2">
                <c:v>0.565</c:v>
              </c:pt>
              <c:pt idx="3">
                <c:v>0.582</c:v>
              </c:pt>
              <c:pt idx="4">
                <c:v>0.643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272631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4DBDA"/>
              </a:solidFill>
            </a:ln>
          </c:spPr>
        </c:majorGridlines>
        <c:numFmt formatCode="0.0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45D63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72631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Valor</c:v>
          </c:tx>
          <c:spPr>
            <a:solidFill xmlns:a="http://schemas.openxmlformats.org/drawingml/2006/main">
              <a:srgbClr val="7A3550"/>
            </a:solidFill>
          </c:spPr>
          <c:cat>
            <c:strLit>
              <c:ptCount val="7"/>
              <c:pt idx="0">
                <c:v>3 (n=6)</c:v>
              </c:pt>
              <c:pt idx="1">
                <c:v>4 (n=41)</c:v>
              </c:pt>
              <c:pt idx="2">
                <c:v>5 (n=350)</c:v>
              </c:pt>
              <c:pt idx="3">
                <c:v>6 (n=465)</c:v>
              </c:pt>
              <c:pt idx="4">
                <c:v>7 (n=171)</c:v>
              </c:pt>
              <c:pt idx="5">
                <c:v>8 (n=30)</c:v>
              </c:pt>
              <c:pt idx="6">
                <c:v>9 (n=1)</c:v>
              </c:pt>
            </c:strLit>
          </c:cat>
          <c:val>
            <c:numLit>
              <c:formatCode>General</c:formatCode>
              <c:ptCount val="7"/>
              <c:pt idx="0">
                <c:v>2.369</c:v>
              </c:pt>
              <c:pt idx="1">
                <c:v>1.211</c:v>
              </c:pt>
              <c:pt idx="2">
                <c:v>0.437</c:v>
              </c:pt>
              <c:pt idx="3">
                <c:v>0.401</c:v>
              </c:pt>
              <c:pt idx="4">
                <c:v>0.647</c:v>
              </c:pt>
              <c:pt idx="5">
                <c:v>1.521</c:v>
              </c:pt>
              <c:pt idx="6">
                <c:v>3.371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272631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4DBDA"/>
              </a:solidFill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45D63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72631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Valor</c:v>
          </c:tx>
          <c:spPr>
            <a:solidFill xmlns:a="http://schemas.openxmlformats.org/drawingml/2006/main">
              <a:srgbClr val="7A3550"/>
            </a:solidFill>
          </c:spPr>
          <c:cat>
            <c:strLit>
              <c:ptCount val="5"/>
              <c:pt idx="0">
                <c:v>Álcool</c:v>
              </c:pt>
              <c:pt idx="1">
                <c:v>Acidez volátil</c:v>
              </c:pt>
              <c:pt idx="2">
                <c:v>SO₂ livre</c:v>
              </c:pt>
              <c:pt idx="3">
                <c:v>Sulfatos</c:v>
              </c:pt>
              <c:pt idx="4">
                <c:v>SO₂ total</c:v>
              </c:pt>
            </c:strLit>
          </c:cat>
          <c:val>
            <c:numLit>
              <c:formatCode>General</c:formatCode>
              <c:ptCount val="5"/>
              <c:pt idx="0">
                <c:v>0.137</c:v>
              </c:pt>
              <c:pt idx="1">
                <c:v>0.057</c:v>
              </c:pt>
              <c:pt idx="2">
                <c:v>0.038</c:v>
              </c:pt>
              <c:pt idx="3">
                <c:v>0.021</c:v>
              </c:pt>
              <c:pt idx="4">
                <c:v>0.015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272631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4DBDA"/>
              </a:solidFill>
            </a:ln>
          </c:spPr>
        </c:majorGridlines>
        <c:numFmt formatCode="0.0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45D63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72631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5B23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B8D582-4E7C-40ED-9B5E-5B4A44CB5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764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Qualidade de vinhos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0E07E5-0402-4618-B10D-DA405F8F6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10001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DDBAC7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DDBAC7"/>
                </a:solidFill>
                <a:latin typeface="Arial"/>
                <a:ea typeface="Arial"/>
                <a:cs typeface="Arial"/>
              </a:rPr>
              <a:t>Como o aprendizado de máquina estima uma nota sensorial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282218-2B45-44D9-A322-A5B5F140E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5305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Apresentação explicativa do projeto</a:t>
            </a:r>
          </a:p>
        </p:txBody>
      </p:sp>
    </p:spTree>
    <p:extLst>
      <p:ext uri="{BB962C8B-B14F-4D97-AF65-F5344CB8AC3E}">
        <p14:creationId xmlns:p14="http://schemas.microsoft.com/office/powerpoint/2010/main" val="4856144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EB6DFB-66BF-48DE-ADD4-63F7CA798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10896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5B233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5B233B"/>
                </a:solidFill>
                <a:latin typeface="Arial"/>
                <a:ea typeface="Arial"/>
                <a:cs typeface="Arial"/>
              </a:rPr>
              <a:t>A pergunta do projeto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7FD7B2-25E1-426A-8ED2-55B5A630C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57925"/>
            <a:ext cx="628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45D6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5D6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470155-D35C-4A69-92FA-D1980171B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457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645D6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645D63"/>
                </a:solidFill>
                <a:latin typeface="Arial"/>
                <a:ea typeface="Arial"/>
                <a:cs typeface="Arial"/>
              </a:rPr>
              <a:t>Entradas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B375CA-3675-492E-8ADD-9FFB06504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05025"/>
            <a:ext cx="5143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7263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72631"/>
                </a:solidFill>
                <a:latin typeface="Arial"/>
                <a:ea typeface="Arial"/>
                <a:cs typeface="Arial"/>
              </a:rPr>
              <a:t>11 medidas físico-químicas</a:t>
            </a:r>
          </a:p>
          <a:p xmlns:a="http://schemas.openxmlformats.org/drawingml/2006/main">
            <a:pPr>
              <a:defRPr sz="2550" b="1">
                <a:solidFill>
                  <a:srgbClr val="27263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72631"/>
                </a:solidFill>
                <a:latin typeface="Arial"/>
                <a:ea typeface="Arial"/>
                <a:cs typeface="Arial"/>
              </a:rPr>
              <a:t>+ tipo de vinho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6B52C2-EBBB-49DD-830C-74881E86B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524000"/>
            <a:ext cx="438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645D6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645D63"/>
                </a:solidFill>
                <a:latin typeface="Arial"/>
                <a:ea typeface="Arial"/>
                <a:cs typeface="Arial"/>
              </a:rPr>
              <a:t>Saída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311827-E224-4413-BE84-C1A0DC8B9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105025"/>
            <a:ext cx="45720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5B233B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5B233B"/>
                </a:solidFill>
                <a:latin typeface="Arial"/>
                <a:ea typeface="Arial"/>
                <a:cs typeface="Arial"/>
              </a:rPr>
              <a:t>Nota sensorial</a:t>
            </a:r>
          </a:p>
          <a:p xmlns:a="http://schemas.openxmlformats.org/drawingml/2006/main">
            <a:pPr>
              <a:defRPr sz="2775" b="1">
                <a:solidFill>
                  <a:srgbClr val="5B233B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5B233B"/>
                </a:solidFill>
                <a:latin typeface="Arial"/>
                <a:ea typeface="Arial"/>
                <a:cs typeface="Arial"/>
              </a:rPr>
              <a:t>estimada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E20AC3-D126-44DE-8570-0F86016CD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057650"/>
            <a:ext cx="438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7A355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7A3550"/>
                </a:solidFill>
                <a:latin typeface="Arial"/>
                <a:ea typeface="Arial"/>
                <a:cs typeface="Arial"/>
              </a:rPr>
              <a:t>Exemplo: 6,3 pontos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FB938F-7D5A-4423-9897-26DEF7099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7263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72631"/>
                </a:solidFill>
                <a:latin typeface="Arial"/>
                <a:ea typeface="Arial"/>
                <a:cs typeface="Arial"/>
              </a:rPr>
              <a:t>Como a saída é um número, esta é uma tarefa de regressão.</a:t>
            </a:r>
          </a:p>
        </p:txBody>
      </p:sp>
    </p:spTree>
    <p:extLst>
      <p:ext uri="{BB962C8B-B14F-4D97-AF65-F5344CB8AC3E}">
        <p14:creationId xmlns:p14="http://schemas.microsoft.com/office/powerpoint/2010/main" val="5083672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FB971E-1CD4-4496-AC58-6087B33FD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10896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5B233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5B233B"/>
                </a:solidFill>
                <a:latin typeface="Arial"/>
                <a:ea typeface="Arial"/>
                <a:cs typeface="Arial"/>
              </a:rPr>
              <a:t>Dados e preparação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581EC5-87B3-4167-B4C8-43E3C18F7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57925"/>
            <a:ext cx="628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45D6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5D6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E50D14-6BA9-42DF-B880-2D80F62E4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619250"/>
            <a:ext cx="3238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5B233B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5B233B"/>
                </a:solidFill>
                <a:latin typeface="Arial"/>
                <a:ea typeface="Arial"/>
                <a:cs typeface="Arial"/>
              </a:rPr>
              <a:t>6.497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A238C0-F629-4EB3-B071-2DEDE8783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438400"/>
            <a:ext cx="323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7263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72631"/>
                </a:solidFill>
                <a:latin typeface="Arial"/>
                <a:ea typeface="Arial"/>
                <a:cs typeface="Arial"/>
              </a:rPr>
              <a:t>amostras nos dois arquivos originais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2B8F94-D66B-4715-9C01-FC4E05AA4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1925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5B233B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5B233B"/>
                </a:solidFill>
                <a:latin typeface="Arial"/>
                <a:ea typeface="Arial"/>
                <a:cs typeface="Arial"/>
              </a:rPr>
              <a:t>1.177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04A19D-DBD0-4B29-9825-6EF2261BB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38400"/>
            <a:ext cx="314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7263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72631"/>
                </a:solidFill>
                <a:latin typeface="Arial"/>
                <a:ea typeface="Arial"/>
                <a:cs typeface="Arial"/>
              </a:rPr>
              <a:t>duplicatas completas removidas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4A7302-FEC3-45E1-84B5-CA537C8F1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1925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5B233B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5B233B"/>
                </a:solidFill>
                <a:latin typeface="Arial"/>
                <a:ea typeface="Arial"/>
                <a:cs typeface="Arial"/>
              </a:rPr>
              <a:t>5.320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8447AA-4EA9-43D7-9E72-5CAD15AD8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38400"/>
            <a:ext cx="314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7263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72631"/>
                </a:solidFill>
                <a:latin typeface="Arial"/>
                <a:ea typeface="Arial"/>
                <a:cs typeface="Arial"/>
              </a:rPr>
              <a:t>amostras após a limpeza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C93187-0C57-42EC-BBCB-BDDF69609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238625"/>
            <a:ext cx="4905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5B233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5B233B"/>
                </a:solidFill>
                <a:latin typeface="Arial"/>
                <a:ea typeface="Arial"/>
                <a:cs typeface="Arial"/>
              </a:rPr>
              <a:t>4.256 para desenvolvimento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E9C120-C407-45B0-97F8-466F300D7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238625"/>
            <a:ext cx="504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5B233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5B233B"/>
                </a:solidFill>
                <a:latin typeface="Arial"/>
                <a:ea typeface="Arial"/>
                <a:cs typeface="Arial"/>
              </a:rPr>
              <a:t>1.064 reservadas para teste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47FE4B-9A84-481F-A833-A55A9D57E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10763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45D6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45D63"/>
                </a:solidFill>
                <a:latin typeface="Arial"/>
                <a:ea typeface="Arial"/>
                <a:cs typeface="Arial"/>
              </a:rPr>
              <a:t>A remoção de duplicatas evita cópias idênticas em treino e teste. Sem identificador, não sabemos se toda repetição era um erro.</a:t>
            </a:r>
          </a:p>
        </p:txBody>
      </p:sp>
    </p:spTree>
    <p:extLst>
      <p:ext uri="{BB962C8B-B14F-4D97-AF65-F5344CB8AC3E}">
        <p14:creationId xmlns:p14="http://schemas.microsoft.com/office/powerpoint/2010/main" val="18295979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05FED5-549A-48F1-B8E0-75B24911B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10896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5B233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5B233B"/>
                </a:solidFill>
                <a:latin typeface="Arial"/>
                <a:ea typeface="Arial"/>
                <a:cs typeface="Arial"/>
              </a:rPr>
              <a:t>Como os modelos foram avaliados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BBAFC0-4CFF-43F1-A3C3-230B24097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57925"/>
            <a:ext cx="628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45D6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5D6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20C239-4C33-4341-A9CA-C4F8DB215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33525"/>
            <a:ext cx="4381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645D6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645D63"/>
                </a:solidFill>
                <a:latin typeface="Arial"/>
                <a:ea typeface="Arial"/>
                <a:cs typeface="Arial"/>
              </a:rPr>
              <a:t>Métrica principal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821DA2-0AE3-4DE9-922F-9EF9C9B92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40005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475" b="1">
                <a:solidFill>
                  <a:srgbClr val="5B233B"/>
                </a:solidFill>
                <a:latin typeface="Arial"/>
                <a:ea typeface="Arial"/>
                <a:cs typeface="Arial"/>
              </a:defRPr>
            </a:pPr>
            <a:r>
              <a:rPr sz="5475" b="1">
                <a:solidFill>
                  <a:srgbClr val="5B233B"/>
                </a:solidFill>
                <a:latin typeface="Arial"/>
                <a:ea typeface="Arial"/>
                <a:cs typeface="Arial"/>
              </a:rPr>
              <a:t>MAE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93B99A-BEB4-497C-A8A1-16BCFD8EF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238500"/>
            <a:ext cx="43815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7263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72631"/>
                </a:solidFill>
                <a:latin typeface="Arial"/>
                <a:ea typeface="Arial"/>
                <a:cs typeface="Arial"/>
              </a:rPr>
              <a:t>Erro absoluto médio, em pontos de nota. Menor é melhor.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363D69-0DD1-4185-8818-E561EF5A5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533525"/>
            <a:ext cx="4762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645D6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645D63"/>
                </a:solidFill>
                <a:latin typeface="Arial"/>
                <a:ea typeface="Arial"/>
                <a:cs typeface="Arial"/>
              </a:rPr>
              <a:t>Escolha do modelo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A29347-2B29-4D9B-B37F-3DE1DD894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62175"/>
            <a:ext cx="5095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5B233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5B233B"/>
                </a:solidFill>
                <a:latin typeface="Arial"/>
                <a:ea typeface="Arial"/>
                <a:cs typeface="Arial"/>
              </a:rPr>
              <a:t>5 dobras de validação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EA8D38-E34C-401C-AB64-AC5DB5351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86125"/>
            <a:ext cx="50292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7263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72631"/>
                </a:solidFill>
                <a:latin typeface="Arial"/>
                <a:ea typeface="Arial"/>
                <a:cs typeface="Arial"/>
              </a:rPr>
              <a:t>Todos os candidatos passaram pelas mesmas dobras. O teste reservado entrou apenas depois da escolha.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1F8C3A-88D1-4CB5-AD63-09E11419F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0545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45D6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45D63"/>
                </a:solidFill>
                <a:latin typeface="Arial"/>
                <a:ea typeface="Arial"/>
                <a:cs typeface="Arial"/>
              </a:rPr>
              <a:t>Referência simples: prever sempre a mediana do desenvolvimento.</a:t>
            </a:r>
          </a:p>
        </p:txBody>
      </p:sp>
    </p:spTree>
    <p:extLst>
      <p:ext uri="{BB962C8B-B14F-4D97-AF65-F5344CB8AC3E}">
        <p14:creationId xmlns:p14="http://schemas.microsoft.com/office/powerpoint/2010/main" val="204552987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66D173-74C2-4B20-8088-EA99F62B6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10896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5B233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5B233B"/>
                </a:solidFill>
                <a:latin typeface="Arial"/>
                <a:ea typeface="Arial"/>
                <a:cs typeface="Arial"/>
              </a:rPr>
              <a:t>A floresta teve o menor erro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8E8C7A-3FB1-4D17-A11D-3EF7ED1AD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57925"/>
            <a:ext cx="628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45D6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5D6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FC0A67-D8BD-4B3B-BBEB-6639C7D64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45D6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45D63"/>
                </a:solidFill>
                <a:latin typeface="Arial"/>
                <a:ea typeface="Arial"/>
                <a:cs typeface="Arial"/>
              </a:rPr>
              <a:t>MAE médio nas cinco dobras de validação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685800" y="2000250"/>
          <a:ext xmlns:a="http://schemas.openxmlformats.org/drawingml/2006/main" cx="10620375" cy="3524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e2fb8c3d3fa4b80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4AB2EE-2401-4BAA-AC14-494655107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572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5B233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B233B"/>
                </a:solidFill>
                <a:latin typeface="Arial"/>
                <a:ea typeface="Arial"/>
                <a:cs typeface="Arial"/>
              </a:rPr>
              <a:t>No teste final: MAE 0,529 versus 0,643 da referência, uma redução de 17,7%.</a:t>
            </a:r>
          </a:p>
        </p:txBody>
      </p:sp>
    </p:spTree>
    <p:extLst>
      <p:ext uri="{BB962C8B-B14F-4D97-AF65-F5344CB8AC3E}">
        <p14:creationId xmlns:p14="http://schemas.microsoft.com/office/powerpoint/2010/main" val="153031414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E5C963-D9DA-4326-871C-6A22CBF36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10896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5B233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5B233B"/>
                </a:solidFill>
                <a:latin typeface="Arial"/>
                <a:ea typeface="Arial"/>
                <a:cs typeface="Arial"/>
              </a:rPr>
              <a:t>Uma triagem apenas para estudo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79E4EE-1967-4A00-B1EF-09FFA97F3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57925"/>
            <a:ext cx="628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45D6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5D63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14758B-7F2F-464F-9E8A-B06590ABB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71600"/>
            <a:ext cx="1038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5B233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5B233B"/>
                </a:solidFill>
                <a:latin typeface="Arial"/>
                <a:ea typeface="Arial"/>
                <a:cs typeface="Arial"/>
              </a:rPr>
              <a:t>Corte da nota prevista: 6,0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DC3745-0D50-42F1-ACD9-8785813B0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0"/>
            <a:ext cx="5048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5B233B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5B233B"/>
                </a:solidFill>
                <a:latin typeface="Arial"/>
                <a:ea typeface="Arial"/>
                <a:cs typeface="Arial"/>
              </a:rPr>
              <a:t>81,7%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1E5434-26C1-4C83-8AE2-61FF220F5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05150"/>
            <a:ext cx="5048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7263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72631"/>
                </a:solidFill>
                <a:latin typeface="Arial"/>
                <a:ea typeface="Arial"/>
                <a:cs typeface="Arial"/>
              </a:rPr>
              <a:t>sensibilidade: 165 de 202 casos 7+ encontrados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9F7843-859F-4843-81B8-21D1CB132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86000"/>
            <a:ext cx="4953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5B233B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5B233B"/>
                </a:solidFill>
                <a:latin typeface="Arial"/>
                <a:ea typeface="Arial"/>
                <a:cs typeface="Arial"/>
              </a:rPr>
              <a:t>44,7%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6B0964-413B-4BE6-A9CB-1342F6687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105150"/>
            <a:ext cx="4953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7263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72631"/>
                </a:solidFill>
                <a:latin typeface="Arial"/>
                <a:ea typeface="Arial"/>
                <a:cs typeface="Arial"/>
              </a:rPr>
              <a:t>precisão: cerca de 45 em 100 selecionados são 7+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4E1633-61FD-45CB-97DD-52428BBCB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895850"/>
            <a:ext cx="5048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7263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72631"/>
                </a:solidFill>
                <a:latin typeface="Arial"/>
                <a:ea typeface="Arial"/>
                <a:cs typeface="Arial"/>
              </a:rPr>
              <a:t>37 casos 7+ ficaram abaixo do corte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073DED-89CD-4882-BBE6-95F134E20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4895850"/>
            <a:ext cx="48482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7263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72631"/>
                </a:solidFill>
                <a:latin typeface="Arial"/>
                <a:ea typeface="Arial"/>
                <a:cs typeface="Arial"/>
              </a:rPr>
              <a:t>204 selecionados não eram 7+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5A1AD1-BBEC-4FFF-A247-D46E22AD1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77215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45D6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45D63"/>
                </a:solidFill>
                <a:latin typeface="Arial"/>
                <a:ea typeface="Arial"/>
                <a:cs typeface="Arial"/>
              </a:rPr>
              <a:t>O corte foi definido no desenvolvimento. Não é uma regra de decisão comercial.</a:t>
            </a:r>
          </a:p>
        </p:txBody>
      </p:sp>
    </p:spTree>
    <p:extLst>
      <p:ext uri="{BB962C8B-B14F-4D97-AF65-F5344CB8AC3E}">
        <p14:creationId xmlns:p14="http://schemas.microsoft.com/office/powerpoint/2010/main" val="82033642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C92EF7-8F46-4BFB-AA66-9EA66E889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10896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5B233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5B233B"/>
                </a:solidFill>
                <a:latin typeface="Arial"/>
                <a:ea typeface="Arial"/>
                <a:cs typeface="Arial"/>
              </a:rPr>
              <a:t>Os erros aumentam nas notas extremas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BA89B1-D207-4739-AF8E-56FD491C1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57925"/>
            <a:ext cx="628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45D6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5D63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3D09E1-522F-4F6D-8012-23B90E789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28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45D6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45D63"/>
                </a:solidFill>
                <a:latin typeface="Arial"/>
                <a:ea typeface="Arial"/>
                <a:cs typeface="Arial"/>
              </a:rPr>
              <a:t>MAE no teste por nota real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66750" y="1857375"/>
          <a:ext xmlns:a="http://schemas.openxmlformats.org/drawingml/2006/main" cx="74295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48cf5d2b00f4818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595F45-E2CF-414A-A37A-E8E197BB8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38350"/>
            <a:ext cx="2762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645D6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645D63"/>
                </a:solidFill>
                <a:latin typeface="Arial"/>
                <a:ea typeface="Arial"/>
                <a:cs typeface="Arial"/>
              </a:rPr>
              <a:t>Por tipo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D84E6D-9046-4CAD-8E9D-D032F1F9A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28900"/>
            <a:ext cx="2667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5B233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5B233B"/>
                </a:solidFill>
                <a:latin typeface="Arial"/>
                <a:ea typeface="Arial"/>
                <a:cs typeface="Arial"/>
              </a:rPr>
              <a:t>Tinto: 0,453</a:t>
            </a:r>
          </a:p>
          <a:p xmlns:a="http://schemas.openxmlformats.org/drawingml/2006/main">
            <a:pPr>
              <a:defRPr sz="2250" b="1">
                <a:solidFill>
                  <a:srgbClr val="5B233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5B233B"/>
                </a:solidFill>
                <a:latin typeface="Arial"/>
                <a:ea typeface="Arial"/>
                <a:cs typeface="Arial"/>
              </a:rPr>
              <a:t>Branco: 0,554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08BFC4-6AF9-4F19-86BC-6DE459CEC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324350"/>
            <a:ext cx="28384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7263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72631"/>
                </a:solidFill>
                <a:latin typeface="Arial"/>
                <a:ea typeface="Arial"/>
                <a:cs typeface="Arial"/>
              </a:rPr>
              <a:t>Notas 3 e 9 têm apenas 6 e 1 casos no teste.</a:t>
            </a:r>
          </a:p>
        </p:txBody>
      </p:sp>
    </p:spTree>
    <p:extLst>
      <p:ext uri="{BB962C8B-B14F-4D97-AF65-F5344CB8AC3E}">
        <p14:creationId xmlns:p14="http://schemas.microsoft.com/office/powerpoint/2010/main" val="52762954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867C55-6BBE-4E21-A174-BE3C7578B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10896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5B233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5B233B"/>
                </a:solidFill>
                <a:latin typeface="Arial"/>
                <a:ea typeface="Arial"/>
                <a:cs typeface="Arial"/>
              </a:rPr>
              <a:t>Quais medidas mais influenciam a previsão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7EBD75-2AA7-4A33-A0F3-DC8551C47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57925"/>
            <a:ext cx="628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45D6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5D63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CD550C-0516-4300-9980-DF0FBCAA4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45D6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45D63"/>
                </a:solidFill>
                <a:latin typeface="Arial"/>
                <a:ea typeface="Arial"/>
                <a:cs typeface="Arial"/>
              </a:rPr>
              <a:t>Aumento do MAE quando cada variável é embaralhada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685800" y="2000250"/>
          <a:ext xmlns:a="http://schemas.openxmlformats.org/drawingml/2006/main" cx="8667750" cy="3095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6687ad05bfc4756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961A15-92AF-49A4-B60E-95A6483AC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362575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5B233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5B233B"/>
                </a:solidFill>
                <a:latin typeface="Arial"/>
                <a:ea typeface="Arial"/>
                <a:cs typeface="Arial"/>
              </a:rPr>
              <a:t>Associação preditiva não prova causa.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9128E1-FA40-4108-97A9-C1B704B52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92455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45D6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45D63"/>
                </a:solidFill>
                <a:latin typeface="Arial"/>
                <a:ea typeface="Arial"/>
                <a:cs typeface="Arial"/>
              </a:rPr>
              <a:t>As medidas químicas também quase identificam o tipo do vinho: AUC 0,996.</a:t>
            </a:r>
          </a:p>
        </p:txBody>
      </p:sp>
    </p:spTree>
    <p:extLst>
      <p:ext uri="{BB962C8B-B14F-4D97-AF65-F5344CB8AC3E}">
        <p14:creationId xmlns:p14="http://schemas.microsoft.com/office/powerpoint/2010/main" val="200213009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5B23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2F7A14-083F-48B0-B4D4-ABEF6AE73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10896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 que podemos concluir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8F327F-8BA4-40FC-8DA5-2EB20ABA3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57925"/>
            <a:ext cx="628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DDBAC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DBAC7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B281F2-E9E4-4DB5-AA96-C57ECA02E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533525"/>
            <a:ext cx="1019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DDBAC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DDBAC7"/>
                </a:solidFill>
                <a:latin typeface="Arial"/>
                <a:ea typeface="Arial"/>
                <a:cs typeface="Arial"/>
              </a:rPr>
              <a:t>O modelo melhora a referência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7E9E23-27D7-4D27-AE6E-6482680F0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11455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MAE 0,529 no teste e R² 0,396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0406B2-8786-4C28-838A-806C3FCF9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019425"/>
            <a:ext cx="1019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Ainda há muita variação individual sem explicação.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376CAB-1560-4EC7-B7E1-392F62A10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067175"/>
            <a:ext cx="4286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DDBAC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DDBAC7"/>
                </a:solidFill>
                <a:latin typeface="Arial"/>
                <a:ea typeface="Arial"/>
                <a:cs typeface="Arial"/>
              </a:rPr>
              <a:t>Uso adequado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839DD8-B8B3-48D3-8CF4-75F8BA366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657725"/>
            <a:ext cx="1019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Aprender e demonstrar o fluxo de modelagem.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8C38A4-95CE-4DFE-8554-D1B7365F9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54355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Para aplicar em novos contextos, seriam necessários dados e validação externa.</a:t>
            </a:r>
          </a:p>
        </p:txBody>
      </p:sp>
    </p:spTree>
    <p:extLst>
      <p:ext uri="{BB962C8B-B14F-4D97-AF65-F5344CB8AC3E}">
        <p14:creationId xmlns:p14="http://schemas.microsoft.com/office/powerpoint/2010/main" val="16805150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2026-10-01T19:14:29.1030000Z</dcterms:created>
  <dcterms:modified xsi:type="dcterms:W3CDTF">2026-10-01T19:14:29.1030000Z</dcterms:modified>
</coreProperties>
</file>