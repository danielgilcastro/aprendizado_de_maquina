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ba2a36b034548" /><Relationship Type="http://schemas.openxmlformats.org/officeDocument/2006/relationships/extended-properties" Target="/docProps/app.xml" Id="R0063778d0ec14669" /><Relationship Type="http://schemas.openxmlformats.org/officeDocument/2006/relationships/officeDocument" Target="/ppt/presentation.xml" Id="R377b94673783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9d71aa5904d09"/>
  </p:sldMasterIdLst>
  <p:notesMasterIdLst>
    <p:notesMasterId xmlns:r="http://schemas.openxmlformats.org/officeDocument/2006/relationships" r:id="R00b33369904c470a"/>
  </p:notesMasterIdLst>
  <p:sldIdLst>
    <p:sldId xmlns:r="http://schemas.openxmlformats.org/officeDocument/2006/relationships" id="256" r:id="Rd66de16cbb9942d7"/>
    <p:sldId xmlns:r="http://schemas.openxmlformats.org/officeDocument/2006/relationships" id="257" r:id="R6235a911a99f46cf"/>
    <p:sldId xmlns:r="http://schemas.openxmlformats.org/officeDocument/2006/relationships" id="258" r:id="Rb71ec60f52b34769"/>
    <p:sldId xmlns:r="http://schemas.openxmlformats.org/officeDocument/2006/relationships" id="259" r:id="Ra1dad2534ac8439e"/>
    <p:sldId xmlns:r="http://schemas.openxmlformats.org/officeDocument/2006/relationships" id="260" r:id="R39577d07fcac47ae"/>
    <p:sldId xmlns:r="http://schemas.openxmlformats.org/officeDocument/2006/relationships" id="261" r:id="R17fd545c7c6145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aadc1bd274103" /><Relationship Type="http://schemas.openxmlformats.org/officeDocument/2006/relationships/slideMaster" Target="/ppt/slideMasters/slideMaster1.xml" Id="R6349d71aa5904d09" /><Relationship Type="http://schemas.openxmlformats.org/officeDocument/2006/relationships/notesMaster" Target="/ppt/notesMasters/notesMaster1.xml" Id="R00b33369904c470a" /><Relationship Type="http://schemas.openxmlformats.org/officeDocument/2006/relationships/presProps" Target="/ppt/presProps.xml" Id="R00d816df68264cad" /><Relationship Type="http://schemas.openxmlformats.org/officeDocument/2006/relationships/tableStyles" Target="/ppt/tableStyles.xml" Id="Rce42013755104910" /><Relationship Type="http://schemas.openxmlformats.org/officeDocument/2006/relationships/slide" Target="/ppt/slides/slide1.xml" Id="Rd66de16cbb9942d7" /><Relationship Type="http://schemas.openxmlformats.org/officeDocument/2006/relationships/slide" Target="/ppt/slides/slide2.xml" Id="R6235a911a99f46cf" /><Relationship Type="http://schemas.openxmlformats.org/officeDocument/2006/relationships/slide" Target="/ppt/slides/slide3.xml" Id="Rb71ec60f52b34769" /><Relationship Type="http://schemas.openxmlformats.org/officeDocument/2006/relationships/slide" Target="/ppt/slides/slide4.xml" Id="Ra1dad2534ac8439e" /><Relationship Type="http://schemas.openxmlformats.org/officeDocument/2006/relationships/slide" Target="/ppt/slides/slide5.xml" Id="R39577d07fcac47ae" /><Relationship Type="http://schemas.openxmlformats.org/officeDocument/2006/relationships/slide" Target="/ppt/slides/slide6.xml" Id="R17fd545c7c6145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c457616254c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88d85b96084e20" /><Relationship Type="http://schemas.openxmlformats.org/officeDocument/2006/relationships/notesMaster" Target="/ppt/notesMasters/notesMaster1.xml" Id="R48865dc96ef946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7c2bb2b6c64634" /><Relationship Type="http://schemas.openxmlformats.org/officeDocument/2006/relationships/notesMaster" Target="/ppt/notesMasters/notesMaster1.xml" Id="Ra318a82c085546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e5ee27c56401e" /><Relationship Type="http://schemas.openxmlformats.org/officeDocument/2006/relationships/notesMaster" Target="/ppt/notesMasters/notesMaster1.xml" Id="Rd0e6594fea6548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9b72c69d41496f" /><Relationship Type="http://schemas.openxmlformats.org/officeDocument/2006/relationships/notesMaster" Target="/ppt/notesMasters/notesMaster1.xml" Id="Rfb09da81776f4f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2a73ac74e04256" /><Relationship Type="http://schemas.openxmlformats.org/officeDocument/2006/relationships/notesMaster" Target="/ppt/notesMasters/notesMaster1.xml" Id="Ree031fdb20b841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b97746235d4087" /><Relationship Type="http://schemas.openxmlformats.org/officeDocument/2006/relationships/notesMaster" Target="/ppt/notesMasters/notesMaster1.xml" Id="R519e811fb33440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Abertura, 25 segundos. Nosso modelo estima a nota de qualidade a partir de medidas químicas e do tipo do vinho. O uso proposto é ordenar amostras para degustação; a decisão final continua humana. Fonte: Projeto_disciplina.pdf e UCI Wine Quality, DOI 10.24432/C56S3T.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Dados, 45 segundos. Unimos 1.599 tintos e 4.898 brancos. Removemos 1.177 duplicatas completas e mantivemos 5.320 linhas. Reservamos 20 por cento para o teste antes de qualquer escolha. O conjunto de desenvolvimento usa cinco dobras; escala e codificação aprendem apenas no treino de cada dobra. Fonte: notebook completo e UCI Wine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Comparação, 55 segundos. A referência sempre prevê a mediana. Usamos MAE porque ele fica em pontos de nota. Nas mesmas cinco dobras, a floresta apresentou o menor MAE. Só depois registramos o teste: 0,529, contra 0,643 da referência, redução de 17,7 por cento. O R² de 0,396 mostra que ainda há variação individual não explicada. Fonte: projeto/resultados/comparacao_validacao.csv e comparacao_teste.csv.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Ajuste, 45 segundos. A árvore ilustra o sobreajuste. Até a profundidade 5, treino e validação melhoram. Depois, o treino continua caindo e a validação piora. Escolhemos a profundidade apenas pela validação. O teste não entra nessa curva. Fonte: projeto/resultados/curva_arvore.csv.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Uso, 50 segundos. Transformamos a nota prevista em uma regra de triagem. Escolhemos o maior corte em décimos que manteve pelo menos 75 por cento de sensibilidade no desenvolvimento. O corte 6,0 recuperou 165 dos 202 vinhos 7 ou mais no teste, mas a precisão foi 44,7 por cento. O custo escolhido é degustar falsos positivos para perder menos bons candidatos. Fonte: projeto/resultados/curva_corte.csv e resumo_metricas.json.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Fechamento, 45 segundos. O modelo erra mais nos extremos porque há poucos exemplos; a nota 9 aparece uma vez no teste. O MAE também foi maior nos brancos. Por isso, a floresta só apoia uma triagem revisável. Ela não substitui avaliação humana, não mede segurança ou preço e não deve ser transferida sem validação externa. Fonte: projeto/resultados/erros_por_nota.csv, erros_por_tipo.csv e relatório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81eb538f444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b163afdd094b02" /><Relationship Type="http://schemas.openxmlformats.org/officeDocument/2006/relationships/slideLayout" Target="/ppt/slideLayouts/slideLayout1.xml" Id="R23e14ad63e16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e14ad63e16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bab2cc2424dd6" /><Relationship Type="http://schemas.openxmlformats.org/officeDocument/2006/relationships/notesSlide" Target="/ppt/notesSlides/notesSlide1.xml" Id="Rfb7669774a62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883b1462b4248" /><Relationship Type="http://schemas.openxmlformats.org/officeDocument/2006/relationships/chart" Target="/ppt/slides/charts/chart1.xml" Id="R5b28411462e04512" /><Relationship Type="http://schemas.openxmlformats.org/officeDocument/2006/relationships/notesSlide" Target="/ppt/notesSlides/notesSlide2.xml" Id="R47d860c1c12c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e12b3ca064946" /><Relationship Type="http://schemas.openxmlformats.org/officeDocument/2006/relationships/chart" Target="/ppt/slides/charts/chart2.xml" Id="R225a178f87af47f0" /><Relationship Type="http://schemas.openxmlformats.org/officeDocument/2006/relationships/notesSlide" Target="/ppt/notesSlides/notesSlide3.xml" Id="R653cb621511148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549ba10bc4bbc" /><Relationship Type="http://schemas.openxmlformats.org/officeDocument/2006/relationships/chart" Target="/ppt/slides/charts/chart3.xml" Id="R1e6870b574af49c0" /><Relationship Type="http://schemas.openxmlformats.org/officeDocument/2006/relationships/notesSlide" Target="/ppt/notesSlides/notesSlide4.xml" Id="Rdc40722700e74c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689077d5a4364" /><Relationship Type="http://schemas.openxmlformats.org/officeDocument/2006/relationships/chart" Target="/ppt/slides/charts/chart4.xml" Id="Rfce9126111a64136" /><Relationship Type="http://schemas.openxmlformats.org/officeDocument/2006/relationships/notesSlide" Target="/ppt/notesSlides/notesSlide5.xml" Id="R4a5855c99cd841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00337e0254ec9" /><Relationship Type="http://schemas.openxmlformats.org/officeDocument/2006/relationships/chart" Target="/ppt/slides/charts/chart5.xml" Id="Racfa0e71e1514049" /><Relationship Type="http://schemas.openxmlformats.org/officeDocument/2006/relationships/notesSlide" Target="/ppt/notesSlides/notesSlide6.xml" Id="R118c9295a42e445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Original</c:v>
          </c:tx>
          <c:spPr>
            <a:solidFill xmlns:a="http://schemas.openxmlformats.org/drawingml/2006/main">
              <a:srgbClr val="9AA5AF"/>
            </a:solidFill>
          </c:spPr>
          <c:cat>
            <c:strRef>
              <c:f>'Chart Data'!$A$2:$A$3</c:f>
              <c:strCache>
                <c:ptCount val="2"/>
                <c:pt idx="0">
                  <c:v>Tintos</c:v>
                </c:pt>
                <c:pt idx="1">
                  <c:v>Brancos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1599</c:v>
                </c:pt>
                <c:pt idx="1">
                  <c:v>4898</c:v>
                </c:pt>
              </c:numCache>
            </c:numRef>
          </c:val>
        </c:ser>
        <c:ser>
          <c:idx val="1"/>
          <c:order val="1"/>
          <c:tx>
            <c:v>Após duplicatas</c:v>
          </c:tx>
          <c:spPr>
            <a:solidFill xmlns:a="http://schemas.openxmlformats.org/drawingml/2006/main">
              <a:srgbClr val="7D263C"/>
            </a:solidFill>
          </c:spPr>
          <c:cat>
            <c:strRef>
              <c:f>'Chart Data'!$C$2:$C$3</c:f>
              <c:strCache>
                <c:ptCount val="2"/>
                <c:pt idx="0">
                  <c:v>Tintos</c:v>
                </c:pt>
                <c:pt idx="1">
                  <c:v>Brancos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1359</c:v>
                </c:pt>
                <c:pt idx="1">
                  <c:v>3961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5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Amostras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0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2606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Validação cruzada</c:v>
          </c:tx>
          <c:spPr>
            <a:solidFill xmlns:a="http://schemas.openxmlformats.org/drawingml/2006/main">
              <a:srgbClr val="9AA5AF"/>
            </a:solidFill>
          </c:spPr>
          <c:cat>
            <c:strRef>
              <c:f>'Chart Data'!$A$2:$A$6</c:f>
              <c:strCache>
                <c:ptCount val="5"/>
                <c:pt idx="0">
                  <c:v>Referência</c:v>
                </c:pt>
                <c:pt idx="1">
                  <c:v>Linear</c:v>
                </c:pt>
                <c:pt idx="2">
                  <c:v>k-NN</c:v>
                </c:pt>
                <c:pt idx="3">
                  <c:v>Árvore</c:v>
                </c:pt>
                <c:pt idx="4">
                  <c:v>Floresta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64.3</c:v>
                </c:pt>
                <c:pt idx="1">
                  <c:v>56.5</c:v>
                </c:pt>
                <c:pt idx="2">
                  <c:v>55</c:v>
                </c:pt>
                <c:pt idx="3">
                  <c:v>58.2</c:v>
                </c:pt>
                <c:pt idx="4">
                  <c:v>53.1</c:v>
                </c:pt>
              </c:numCache>
            </c:numRef>
          </c:val>
        </c:ser>
        <c:ser>
          <c:idx val="1"/>
          <c:order val="1"/>
          <c:tx>
            <c:v>Teste final</c:v>
          </c:tx>
          <c:spPr>
            <a:solidFill xmlns:a="http://schemas.openxmlformats.org/drawingml/2006/main">
              <a:srgbClr val="2F6B56"/>
            </a:solidFill>
          </c:spPr>
          <c:cat>
            <c:strRef>
              <c:f>'Chart Data'!$C$2:$C$6</c:f>
              <c:strCache>
                <c:ptCount val="5"/>
                <c:pt idx="0">
                  <c:v>Referência</c:v>
                </c:pt>
                <c:pt idx="1">
                  <c:v>Linear</c:v>
                </c:pt>
                <c:pt idx="2">
                  <c:v>k-NN</c:v>
                </c:pt>
                <c:pt idx="3">
                  <c:v>Árvore</c:v>
                </c:pt>
                <c:pt idx="4">
                  <c:v>Floresta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64.3</c:v>
                </c:pt>
                <c:pt idx="1">
                  <c:v>56.6</c:v>
                </c:pt>
                <c:pt idx="2">
                  <c:v>55.2</c:v>
                </c:pt>
                <c:pt idx="3">
                  <c:v>57.2</c:v>
                </c:pt>
                <c:pt idx="4">
                  <c:v>52.9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5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MAE × 100  (menor é melhor)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0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2606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Treino</c:v>
          </c:tx>
          <c:spPr>
            <a:ln xmlns:a="http://schemas.openxmlformats.org/drawingml/2006/main" w="28575">
              <a:solidFill>
                <a:srgbClr val="7D263C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D263C"/>
              </a:solidFill>
            </c:spPr>
          </c:marker>
          <c:cat>
            <c:numRef>
              <c:f>'Chart Data'!$A$2:$A$19</c:f>
              <c:numCache>
                <c:formatCode>General</c:formatCod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numCache>
            </c:numRef>
          </c:cat>
          <c:val>
            <c:numRef>
              <c:f>'Chart Data'!$B$2:$B$19</c:f>
              <c:numCache>
                <c:formatCode>General</c:formatCode>
                <c:ptCount val="18"/>
                <c:pt idx="0">
                  <c:v>65.4</c:v>
                </c:pt>
                <c:pt idx="1">
                  <c:v>60</c:v>
                </c:pt>
                <c:pt idx="2">
                  <c:v>58.7</c:v>
                </c:pt>
                <c:pt idx="3">
                  <c:v>56.3</c:v>
                </c:pt>
                <c:pt idx="4">
                  <c:v>54</c:v>
                </c:pt>
                <c:pt idx="5">
                  <c:v>51.9</c:v>
                </c:pt>
                <c:pt idx="6">
                  <c:v>49</c:v>
                </c:pt>
                <c:pt idx="7">
                  <c:v>45</c:v>
                </c:pt>
                <c:pt idx="8">
                  <c:v>40.7</c:v>
                </c:pt>
                <c:pt idx="9">
                  <c:v>35.4</c:v>
                </c:pt>
                <c:pt idx="10">
                  <c:v>29.9</c:v>
                </c:pt>
                <c:pt idx="11">
                  <c:v>24.9</c:v>
                </c:pt>
                <c:pt idx="12">
                  <c:v>20</c:v>
                </c:pt>
                <c:pt idx="13">
                  <c:v>15.3</c:v>
                </c:pt>
                <c:pt idx="14">
                  <c:v>11.5</c:v>
                </c:pt>
                <c:pt idx="15">
                  <c:v>8.6</c:v>
                </c:pt>
                <c:pt idx="16">
                  <c:v>6.5</c:v>
                </c:pt>
                <c:pt idx="17">
                  <c:v>4.7</c:v>
                </c:pt>
              </c:numCache>
            </c:numRef>
          </c:val>
          <c:smooth val="0"/>
        </c:ser>
        <c:ser>
          <c:idx val="1"/>
          <c:order val="1"/>
          <c:tx>
            <c:v>Validação cruzada</c:v>
          </c:tx>
          <c:spPr>
            <a:ln xmlns:a="http://schemas.openxmlformats.org/drawingml/2006/main" w="28575">
              <a:solidFill>
                <a:srgbClr val="17324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7324D"/>
              </a:solidFill>
            </c:spPr>
          </c:marker>
          <c:cat>
            <c:numRef>
              <c:f>'Chart Data'!$C$2:$C$19</c:f>
              <c:numCache>
                <c:formatCode>General</c:formatCod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numCache>
            </c:numRef>
          </c:cat>
          <c:val>
            <c:numRef>
              <c:f>'Chart Data'!$D$2:$D$19</c:f>
              <c:numCache>
                <c:formatCode>General</c:formatCode>
                <c:ptCount val="18"/>
                <c:pt idx="0">
                  <c:v>65.5</c:v>
                </c:pt>
                <c:pt idx="1">
                  <c:v>60.7</c:v>
                </c:pt>
                <c:pt idx="2">
                  <c:v>59.7</c:v>
                </c:pt>
                <c:pt idx="3">
                  <c:v>58.4</c:v>
                </c:pt>
                <c:pt idx="4">
                  <c:v>58.2</c:v>
                </c:pt>
                <c:pt idx="5">
                  <c:v>58.5</c:v>
                </c:pt>
                <c:pt idx="6">
                  <c:v>59</c:v>
                </c:pt>
                <c:pt idx="7">
                  <c:v>60.6</c:v>
                </c:pt>
                <c:pt idx="8">
                  <c:v>62.3</c:v>
                </c:pt>
                <c:pt idx="9">
                  <c:v>63.8</c:v>
                </c:pt>
                <c:pt idx="10">
                  <c:v>64.7</c:v>
                </c:pt>
                <c:pt idx="11">
                  <c:v>65</c:v>
                </c:pt>
                <c:pt idx="12">
                  <c:v>66</c:v>
                </c:pt>
                <c:pt idx="13">
                  <c:v>66.3</c:v>
                </c:pt>
                <c:pt idx="14">
                  <c:v>67.5</c:v>
                </c:pt>
                <c:pt idx="15">
                  <c:v>67.8</c:v>
                </c:pt>
                <c:pt idx="16">
                  <c:v>67.8</c:v>
                </c:pt>
                <c:pt idx="17">
                  <c:v>68.2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Profundidade máxima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0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MAE × 100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0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2606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Sensibilidade</c:v>
          </c:tx>
          <c:spPr>
            <a:ln xmlns:a="http://schemas.openxmlformats.org/drawingml/2006/main" w="28575">
              <a:solidFill>
                <a:srgbClr val="2F6B56"/>
              </a:solidFill>
              <a:prstDash val="solid"/>
            </a:ln>
          </c:spPr>
          <c:marker>
            <c:symbol val="none"/>
          </c:marker>
          <c:cat>
            <c:numRef>
              <c:f>'Chart Data'!$A$2:$A$23</c:f>
              <c:numCache>
                <c:formatCode>General</c:formatCode>
                <c:ptCount val="22"/>
                <c:pt idx="0">
                  <c:v>5.0</c:v>
                </c:pt>
                <c:pt idx="1">
                  <c:v>5.1</c:v>
                </c:pt>
                <c:pt idx="2">
                  <c:v>5.2</c:v>
                </c:pt>
                <c:pt idx="3">
                  <c:v>5.3</c:v>
                </c:pt>
                <c:pt idx="4">
                  <c:v>5.4</c:v>
                </c:pt>
                <c:pt idx="5">
                  <c:v>5.5</c:v>
                </c:pt>
                <c:pt idx="6">
                  <c:v>5.6</c:v>
                </c:pt>
                <c:pt idx="7">
                  <c:v>5.7</c:v>
                </c:pt>
                <c:pt idx="8">
                  <c:v>5.8</c:v>
                </c:pt>
                <c:pt idx="9">
                  <c:v>5.9</c:v>
                </c:pt>
                <c:pt idx="10">
                  <c:v>6.0</c:v>
                </c:pt>
                <c:pt idx="11">
                  <c:v>6.1</c:v>
                </c:pt>
                <c:pt idx="12">
                  <c:v>6.2</c:v>
                </c:pt>
                <c:pt idx="13">
                  <c:v>6.3</c:v>
                </c:pt>
                <c:pt idx="14">
                  <c:v>6.4</c:v>
                </c:pt>
                <c:pt idx="15">
                  <c:v>6.5</c:v>
                </c:pt>
                <c:pt idx="16">
                  <c:v>6.6</c:v>
                </c:pt>
                <c:pt idx="17">
                  <c:v>6.7</c:v>
                </c:pt>
                <c:pt idx="18">
                  <c:v>6.8</c:v>
                </c:pt>
                <c:pt idx="19">
                  <c:v>6.9</c:v>
                </c:pt>
                <c:pt idx="20">
                  <c:v>7.0</c:v>
                </c:pt>
                <c:pt idx="21">
                  <c:v>7.1</c:v>
                </c:pt>
              </c:numCache>
            </c:numRef>
          </c:cat>
          <c:val>
            <c:numRef>
              <c:f>'Chart Data'!$B$2:$B$23</c:f>
              <c:numCache>
                <c:formatCode>0%</c:formatCode>
                <c:ptCount val="22"/>
                <c:pt idx="0">
                  <c:v>0.998761</c:v>
                </c:pt>
                <c:pt idx="1">
                  <c:v>0.996283</c:v>
                </c:pt>
                <c:pt idx="2">
                  <c:v>0.995043</c:v>
                </c:pt>
                <c:pt idx="3">
                  <c:v>0.991326</c:v>
                </c:pt>
                <c:pt idx="4">
                  <c:v>0.981413</c:v>
                </c:pt>
                <c:pt idx="5">
                  <c:v>0.962825</c:v>
                </c:pt>
                <c:pt idx="6">
                  <c:v>0.956629</c:v>
                </c:pt>
                <c:pt idx="7">
                  <c:v>0.925651</c:v>
                </c:pt>
                <c:pt idx="8">
                  <c:v>0.902107</c:v>
                </c:pt>
                <c:pt idx="9">
                  <c:v>0.857497</c:v>
                </c:pt>
                <c:pt idx="10">
                  <c:v>0.80917</c:v>
                </c:pt>
                <c:pt idx="11">
                  <c:v>0.738538</c:v>
                </c:pt>
                <c:pt idx="12">
                  <c:v>0.654275</c:v>
                </c:pt>
                <c:pt idx="13">
                  <c:v>0.565056</c:v>
                </c:pt>
                <c:pt idx="14">
                  <c:v>0.483271</c:v>
                </c:pt>
                <c:pt idx="15">
                  <c:v>0.402726</c:v>
                </c:pt>
                <c:pt idx="16">
                  <c:v>0.302354</c:v>
                </c:pt>
                <c:pt idx="17">
                  <c:v>0.211896</c:v>
                </c:pt>
                <c:pt idx="18">
                  <c:v>0.141264</c:v>
                </c:pt>
                <c:pt idx="19">
                  <c:v>0.068154</c:v>
                </c:pt>
                <c:pt idx="20">
                  <c:v>0.030979</c:v>
                </c:pt>
                <c:pt idx="21">
                  <c:v>0.01487</c:v>
                </c:pt>
              </c:numCache>
            </c:numRef>
          </c:val>
        </c:ser>
        <c:ser>
          <c:idx val="1"/>
          <c:order val="1"/>
          <c:tx>
            <c:v>Precisão</c:v>
          </c:tx>
          <c:spPr>
            <a:ln xmlns:a="http://schemas.openxmlformats.org/drawingml/2006/main" w="28575">
              <a:solidFill>
                <a:srgbClr val="7D263C"/>
              </a:solidFill>
              <a:prstDash val="solid"/>
            </a:ln>
          </c:spPr>
          <c:marker>
            <c:symbol val="none"/>
          </c:marker>
          <c:cat>
            <c:numRef>
              <c:f>'Chart Data'!$C$2:$C$23</c:f>
              <c:numCache>
                <c:formatCode>General</c:formatCode>
                <c:ptCount val="22"/>
                <c:pt idx="0">
                  <c:v>5.0</c:v>
                </c:pt>
                <c:pt idx="1">
                  <c:v>5.1</c:v>
                </c:pt>
                <c:pt idx="2">
                  <c:v>5.2</c:v>
                </c:pt>
                <c:pt idx="3">
                  <c:v>5.3</c:v>
                </c:pt>
                <c:pt idx="4">
                  <c:v>5.4</c:v>
                </c:pt>
                <c:pt idx="5">
                  <c:v>5.5</c:v>
                </c:pt>
                <c:pt idx="6">
                  <c:v>5.6</c:v>
                </c:pt>
                <c:pt idx="7">
                  <c:v>5.7</c:v>
                </c:pt>
                <c:pt idx="8">
                  <c:v>5.8</c:v>
                </c:pt>
                <c:pt idx="9">
                  <c:v>5.9</c:v>
                </c:pt>
                <c:pt idx="10">
                  <c:v>6.0</c:v>
                </c:pt>
                <c:pt idx="11">
                  <c:v>6.1</c:v>
                </c:pt>
                <c:pt idx="12">
                  <c:v>6.2</c:v>
                </c:pt>
                <c:pt idx="13">
                  <c:v>6.3</c:v>
                </c:pt>
                <c:pt idx="14">
                  <c:v>6.4</c:v>
                </c:pt>
                <c:pt idx="15">
                  <c:v>6.5</c:v>
                </c:pt>
                <c:pt idx="16">
                  <c:v>6.6</c:v>
                </c:pt>
                <c:pt idx="17">
                  <c:v>6.7</c:v>
                </c:pt>
                <c:pt idx="18">
                  <c:v>6.8</c:v>
                </c:pt>
                <c:pt idx="19">
                  <c:v>6.9</c:v>
                </c:pt>
                <c:pt idx="20">
                  <c:v>7.0</c:v>
                </c:pt>
                <c:pt idx="21">
                  <c:v>7.1</c:v>
                </c:pt>
              </c:numCache>
            </c:numRef>
          </c:cat>
          <c:val>
            <c:numRef>
              <c:f>'Chart Data'!$D$2:$D$23</c:f>
              <c:numCache>
                <c:formatCode>0%</c:formatCode>
                <c:ptCount val="22"/>
                <c:pt idx="0">
                  <c:v>0.19625</c:v>
                </c:pt>
                <c:pt idx="1">
                  <c:v>0.203338</c:v>
                </c:pt>
                <c:pt idx="2">
                  <c:v>0.217792</c:v>
                </c:pt>
                <c:pt idx="3">
                  <c:v>0.232761</c:v>
                </c:pt>
                <c:pt idx="4">
                  <c:v>0.251429</c:v>
                </c:pt>
                <c:pt idx="5">
                  <c:v>0.272345</c:v>
                </c:pt>
                <c:pt idx="6">
                  <c:v>0.297152</c:v>
                </c:pt>
                <c:pt idx="7">
                  <c:v>0.321844</c:v>
                </c:pt>
                <c:pt idx="8">
                  <c:v>0.350843</c:v>
                </c:pt>
                <c:pt idx="9">
                  <c:v>0.378763</c:v>
                </c:pt>
                <c:pt idx="10">
                  <c:v>0.421019</c:v>
                </c:pt>
                <c:pt idx="11">
                  <c:v>0.459877</c:v>
                </c:pt>
                <c:pt idx="12">
                  <c:v>0.495775</c:v>
                </c:pt>
                <c:pt idx="13">
                  <c:v>0.543504</c:v>
                </c:pt>
                <c:pt idx="14">
                  <c:v>0.6</c:v>
                </c:pt>
                <c:pt idx="15">
                  <c:v>0.65</c:v>
                </c:pt>
                <c:pt idx="16">
                  <c:v>0.674033</c:v>
                </c:pt>
                <c:pt idx="17">
                  <c:v>0.70082</c:v>
                </c:pt>
                <c:pt idx="18">
                  <c:v>0.745098</c:v>
                </c:pt>
                <c:pt idx="19">
                  <c:v>0.808824</c:v>
                </c:pt>
                <c:pt idx="20">
                  <c:v>0.806452</c:v>
                </c:pt>
                <c:pt idx="21">
                  <c:v>0.857143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Corte na nota prevista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0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2606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7D263C"/>
            </a:solidFill>
          </c:spPr>
          <c:cat>
            <c:numRef>
              <c:f>'Chart Data'!$A$2:$A$8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236.9</c:v>
                </c:pt>
                <c:pt idx="1">
                  <c:v>121.1</c:v>
                </c:pt>
                <c:pt idx="2">
                  <c:v>43.7</c:v>
                </c:pt>
                <c:pt idx="3">
                  <c:v>40.1</c:v>
                </c:pt>
                <c:pt idx="4">
                  <c:v>64.7</c:v>
                </c:pt>
                <c:pt idx="5">
                  <c:v>152.1</c:v>
                </c:pt>
                <c:pt idx="6">
                  <c:v>337.1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5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Nota real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0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06D"/>
                    </a:solidFill>
                    <a:latin typeface="Arial"/>
                    <a:ea typeface="Arial"/>
                    <a:cs typeface="Arial"/>
                  </a:rPr>
                  <a:t>MAE × 100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0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4715E-1427-4C29-9964-80DA7113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Qualidade de vinhos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C3352-2428-4B92-8918-0E2EFC6D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CE7EF"/>
                </a:solidFill>
                <a:latin typeface="Arial"/>
                <a:ea typeface="Arial"/>
                <a:cs typeface="Arial"/>
              </a:rPr>
              <a:t>Regressão para priorizar amostras em degustação humana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15776-0EAD-469D-9F01-9765E612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B1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6B15E"/>
                </a:solidFill>
                <a:latin typeface="Arial"/>
                <a:ea typeface="Arial"/>
                <a:cs typeface="Arial"/>
              </a:rPr>
              <a:t>6.497 amostras originais   5.320 após duplicatas   teste final com 1.064 casos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7C72D-F36D-42A4-9989-72511C21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F"/>
                </a:solidFill>
                <a:latin typeface="Arial"/>
                <a:ea typeface="Arial"/>
                <a:cs typeface="Arial"/>
              </a:rPr>
              <a:t>IASEG  Disciplina 2 de Aprendizado de Máquina</a:t>
            </a:r>
          </a:p>
        </p:txBody>
      </p:sp>
    </p:spTree>
    <p:extLst>
      <p:ext uri="{BB962C8B-B14F-4D97-AF65-F5344CB8AC3E}">
        <p14:creationId xmlns:p14="http://schemas.microsoft.com/office/powerpoint/2010/main" val="37326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46682-77E3-4923-87CF-1DD19392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Dados e desenho do experimento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FC143-76A1-4202-B86C-250B957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Duplicatas saem antes da divisão e o teste permanece reservado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28411462e0451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EAFAF-A1D6-43C8-A600-DA520FA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4.256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CD6E7-5645-400D-8F5F-1B49F901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33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casos de desenvolvimento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88D17-AFD2-4CED-B6ED-F583AC7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D26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7D263C"/>
                </a:solidFill>
                <a:latin typeface="Arial"/>
                <a:ea typeface="Arial"/>
                <a:cs typeface="Arial"/>
              </a:rPr>
              <a:t>1.064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98994-7E96-4DFA-B64F-C4269E0D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casos no teste 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D4F5E-BDB4-4E9D-BEE0-A0360303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342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Cinco dobras KFold no desenvolvimento</a:t>
            </a:r>
          </a:p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random_state 42</a:t>
            </a:r>
          </a:p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Pipeline aprende dentro de cada dobra</a:t>
            </a:r>
          </a:p>
        </p:txBody>
      </p:sp>
    </p:spTree>
    <p:extLst>
      <p:ext uri="{BB962C8B-B14F-4D97-AF65-F5344CB8AC3E}">
        <p14:creationId xmlns:p14="http://schemas.microsoft.com/office/powerpoint/2010/main" val="688986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47619-46AF-412D-8EF6-9F0602BF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Comparação de modelos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565EE-9B4D-4E3D-B9A7-CD8D586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floresta foi escolhida pela validação antes do teste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7858125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5a178f87af47f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05421-BE7E-41CA-B57A-6A2FE734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6B5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F6B56"/>
                </a:solidFill>
                <a:latin typeface="Arial"/>
                <a:ea typeface="Arial"/>
                <a:cs typeface="Arial"/>
              </a:rPr>
              <a:t>0,529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A7E0D-2184-4BE9-83C7-05F98D2D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955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MAE da floresta no teste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AD729-F791-448A-AAC7-E10A9EC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38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D26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D263C"/>
                </a:solidFill>
                <a:latin typeface="Arial"/>
                <a:ea typeface="Arial"/>
                <a:cs typeface="Arial"/>
              </a:rPr>
              <a:t>17,7%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4BAA-97C1-4AA3-8F4F-A1C73048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2524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redução do MAE contra a referência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0EA40-2231-4FA8-A654-18ED4E8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95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R² no teste  0,396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3F91-0A3D-408E-9103-32CF76D8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6267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Escala do gráfico × 100: 52,9 corresponde a MAE 0,529</a:t>
            </a:r>
          </a:p>
        </p:txBody>
      </p:sp>
    </p:spTree>
    <p:extLst>
      <p:ext uri="{BB962C8B-B14F-4D97-AF65-F5344CB8AC3E}">
        <p14:creationId xmlns:p14="http://schemas.microsoft.com/office/powerpoint/2010/main" val="1195627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80D1F-1608-4FF9-BC0A-020CF872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Complexidade da árvore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BED6D-32D6-4E6F-AAC5-CED0501A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profundidade 5 equilibrou ajuste e generalização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8096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6870b574af49c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0D727-EF59-414D-9B57-F71A64A3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14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6B5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6B56"/>
                </a:solidFill>
                <a:latin typeface="Arial"/>
                <a:ea typeface="Arial"/>
                <a:cs typeface="Arial"/>
              </a:rPr>
              <a:t>Até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B16D8-6780-42A2-B34D-217AAEF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145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 erro de validação cai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E7E72-325E-4D07-8307-2A16983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D26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D263C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4F734-A68C-424B-981C-E0518197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treino melhora enquanto validação piora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EDF00-3907-4D35-82F3-947F9DB1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863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Sinal de sobreajuste</a:t>
            </a:r>
          </a:p>
        </p:txBody>
      </p:sp>
    </p:spTree>
    <p:extLst>
      <p:ext uri="{BB962C8B-B14F-4D97-AF65-F5344CB8AC3E}">
        <p14:creationId xmlns:p14="http://schemas.microsoft.com/office/powerpoint/2010/main" val="395494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9845D-02C6-4490-8EA5-88E569B6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Regra de triagem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AF93-33A6-4A46-A517-0DF31D8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Corte 6,0 definido com previsões fora da dobra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5247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e9126111a6413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812E9-6802-469B-A475-F24B1330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1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6B5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6B56"/>
                </a:solidFill>
                <a:latin typeface="Arial"/>
                <a:ea typeface="Arial"/>
                <a:cs typeface="Arial"/>
              </a:rPr>
              <a:t>81,7%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F501D-F9F6-4FC2-8C8E-87A98CB0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sensibilidade no teste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E6894-968F-4951-A355-791419EE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D26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7D263C"/>
                </a:solidFill>
                <a:latin typeface="Arial"/>
                <a:ea typeface="Arial"/>
                <a:cs typeface="Arial"/>
              </a:rPr>
              <a:t>44,7%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EE20E-0B1D-4C1B-AEF9-C3711A3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957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precisão no teste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74A2B-44BA-463A-A9F9-A7B4F1C9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863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369 selecionados</a:t>
            </a:r>
          </a:p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165 de 202 vinhos 7+ recuperados</a:t>
            </a:r>
          </a:p>
        </p:txBody>
      </p:sp>
    </p:spTree>
    <p:extLst>
      <p:ext uri="{BB962C8B-B14F-4D97-AF65-F5344CB8AC3E}">
        <p14:creationId xmlns:p14="http://schemas.microsoft.com/office/powerpoint/2010/main" val="1627602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4FD50-CC8E-4EA6-9998-5CE1E651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Limitações e restrições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A609A-E718-49D2-9571-F22B5C9A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Os extremos raros impedem uso autônomo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6381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fa0e71e151404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079EF-2DF9-40BD-9E3B-FF1DD3C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857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02B"/>
                </a:solidFill>
                <a:latin typeface="Arial"/>
                <a:ea typeface="Arial"/>
                <a:cs typeface="Arial"/>
              </a:rPr>
              <a:t>Não substituir degustadores ou certificação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02B"/>
                </a:solidFill>
                <a:latin typeface="Arial"/>
                <a:ea typeface="Arial"/>
                <a:cs typeface="Arial"/>
              </a:rPr>
              <a:t>Não aprovar lotes, estimar preço ou segurança sanitária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02B"/>
                </a:solidFill>
                <a:latin typeface="Arial"/>
                <a:ea typeface="Arial"/>
                <a:cs typeface="Arial"/>
              </a:rPr>
              <a:t>Não tratar importância como causalidade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02B"/>
                </a:solidFill>
                <a:latin typeface="Arial"/>
                <a:ea typeface="Arial"/>
                <a:cs typeface="Arial"/>
              </a:rPr>
              <a:t>Não transferir para outro contexto sem 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5C25-CBF4-46D2-9F25-BEE5A76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MAE nos brancos  0,554</a:t>
            </a:r>
          </a:p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MAE nos tintos  0,453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6FC94-0838-4042-8DC6-F12A1A22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Próximo passo: validar por safra, produtor e laboratório</a:t>
            </a:r>
          </a:p>
        </p:txBody>
      </p:sp>
    </p:spTree>
    <p:extLst>
      <p:ext uri="{BB962C8B-B14F-4D97-AF65-F5344CB8AC3E}">
        <p14:creationId xmlns:p14="http://schemas.microsoft.com/office/powerpoint/2010/main" val="1461587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2026-09-29T19:05:08.0560000Z</dcterms:created>
  <dcterms:modified xsi:type="dcterms:W3CDTF">2026-09-29T19:05:08.0560000Z</dcterms:modified>
</coreProperties>
</file>